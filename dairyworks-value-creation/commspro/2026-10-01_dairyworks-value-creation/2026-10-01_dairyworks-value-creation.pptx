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(AED mn)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362</c:v>
                </c:pt>
                <c:pt idx="1">
                  <c:v>372</c:v>
                </c:pt>
                <c:pt idx="2">
                  <c:v>307</c:v>
                </c:pt>
                <c:pt idx="3">
                  <c:v>232</c:v>
                </c:pt>
                <c:pt idx="4">
                  <c:v>111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D6DAE0"/>
            </a:solidFill>
          </c:spPr>
          <c:cat>
            <c:strRef>
              <c:f>Sheet1!$A$2:$A$4</c:f>
              <c:strCache>
                <c:ptCount val="3"/>
                <c:pt idx="0">
                  <c:v>UAE</c:v>
                </c:pt>
                <c:pt idx="1">
                  <c:v>KSA</c:v>
                </c:pt>
                <c:pt idx="2">
                  <c:v>Qatar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695</c:v>
                </c:pt>
                <c:pt idx="1">
                  <c:v>1790</c:v>
                </c:pt>
                <c:pt idx="2">
                  <c:v>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2026E</c:v>
                </c:pt>
              </c:strCache>
            </c:strRef>
          </c:tx>
          <c:spPr>
            <a:solidFill>
              <a:srgbClr val="179C9C"/>
            </a:solidFill>
          </c:spPr>
          <c:cat>
            <c:strRef>
              <c:f>Sheet1!$A$2:$A$4</c:f>
              <c:strCache>
                <c:ptCount val="3"/>
                <c:pt idx="0">
                  <c:v>UAE</c:v>
                </c:pt>
                <c:pt idx="1">
                  <c:v>KSA</c:v>
                </c:pt>
                <c:pt idx="2">
                  <c:v>Qatar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984</c:v>
                </c:pt>
                <c:pt idx="1">
                  <c:v>2319</c:v>
                </c:pt>
                <c:pt idx="2">
                  <c:v>373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dPt>
            <c:idx val="0"/>
            <c:spPr>
              <a:solidFill>
                <a:srgbClr val="C03A2B"/>
              </a:solidFill>
            </c:spPr>
          </c:dPt>
          <c:dPt>
            <c:idx val="1"/>
            <c:spPr>
              <a:solidFill>
                <a:srgbClr val="179C9C"/>
              </a:solidFill>
            </c:spPr>
          </c:dPt>
          <c:dPt>
            <c:idx val="2"/>
            <c:spPr>
              <a:solidFill>
                <a:srgbClr val="179C9C"/>
              </a:solidFill>
            </c:spPr>
          </c:dPt>
          <c:dPt>
            <c:idx val="3"/>
            <c:spPr>
              <a:solidFill>
                <a:srgbClr val="179C9C"/>
              </a:solidFill>
            </c:spPr>
          </c:dPt>
          <c:cat>
            <c:strRef>
              <c:f>Sheet1!$A$2:$A$5</c:f>
              <c:strCache>
                <c:ptCount val="4"/>
                <c:pt idx="0">
                  <c:v>Dairyworks</c:v>
                </c:pt>
                <c:pt idx="1">
                  <c:v>SADAFCO</c:v>
                </c:pt>
                <c:pt idx="2">
                  <c:v>NADEC</c:v>
                </c:pt>
                <c:pt idx="3">
                  <c:v>Almarai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5.8</c:v>
                </c:pt>
                <c:pt idx="1">
                  <c:v>17.0</c:v>
                </c:pt>
                <c:pt idx="2">
                  <c:v>19.2</c:v>
                </c:pt>
                <c:pt idx="3">
                  <c:v>27.0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 mn)</c:v>
                </c:pt>
              </c:strCache>
            </c:strRef>
          </c:tx>
          <c:dPt>
            <c:idx val="0"/>
            <c:spPr>
              <a:solidFill>
                <a:srgbClr val="1F2A44"/>
              </a:solidFill>
            </c:spPr>
          </c:dPt>
          <c:dPt>
            <c:idx val="1"/>
            <c:spPr>
              <a:solidFill>
                <a:srgbClr val="179C9C"/>
              </a:solidFill>
            </c:spPr>
          </c:dPt>
          <c:dPt>
            <c:idx val="2"/>
            <c:spPr>
              <a:solidFill>
                <a:srgbClr val="179C9C"/>
              </a:solidFill>
            </c:spPr>
          </c:dPt>
          <c:dPt>
            <c:idx val="3"/>
            <c:spPr>
              <a:solidFill>
                <a:srgbClr val="179C9C"/>
              </a:solidFill>
            </c:spPr>
          </c:dPt>
          <c:dPt>
            <c:idx val="4"/>
            <c:spPr>
              <a:solidFill>
                <a:srgbClr val="179C9C"/>
              </a:solidFill>
            </c:spPr>
          </c:dPt>
          <c:dPt>
            <c:idx val="5"/>
            <c:spPr>
              <a:solidFill>
                <a:srgbClr val="2E8B57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Distribution</c:v>
                </c:pt>
                <c:pt idx="2">
                  <c:v>Premium.</c:v>
                </c:pt>
                <c:pt idx="3">
                  <c:v>UAE core</c:v>
                </c:pt>
                <c:pt idx="4">
                  <c:v>Adjacencies</c:v>
                </c:pt>
                <c:pt idx="5">
                  <c:v>2026 FP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1900</c:v>
                </c:pt>
                <c:pt idx="1">
                  <c:v>260</c:v>
                </c:pt>
                <c:pt idx="2">
                  <c:v>300</c:v>
                </c:pt>
                <c:pt idx="3">
                  <c:v>180</c:v>
                </c:pt>
                <c:pt idx="4">
                  <c:v>60</c:v>
                </c:pt>
                <c:pt idx="5">
                  <c:v>2700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4754880" cy="4572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9C9C"/>
                </a:solidFill>
                <a:latin typeface="Calibri"/>
              </a:rPr>
              <a:t>DAIRYWORKS  ·  BOARD STRATEGY 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 5-Year Value Creation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6DAE0"/>
                </a:solidFill>
                <a:latin typeface="Calibri"/>
              </a:rPr>
              <a:t>Restoring full potential: ~4.5x EBITDA to approximately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AED 495M by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6DAE0"/>
                </a:solidFill>
                <a:latin typeface="Calibri"/>
              </a:rPr>
              <a:t>Prepared for the CEO and Board  ·  October 2026  ·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McKinsey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Dairyworks can roughly 4.5x EBITDA to ~AED 495M by 2026 — the decline is self-inflicted and reversible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A four-initiative value creation plan in markets growing 5–8% per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64008" cy="10515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03A2B"/>
                </a:solidFill>
                <a:latin typeface="Calibri"/>
              </a:rPr>
              <a:t>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03704"/>
            <a:ext cx="23774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370"/>
                </a:solidFill>
                <a:latin typeface="Calibri"/>
              </a:rPr>
              <a:t>2021 EBITDA margin
(down from 18.1% in 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00200"/>
            <a:ext cx="2651760" cy="10515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00200"/>
            <a:ext cx="64008" cy="10515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099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18.3%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03704"/>
            <a:ext cx="23774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370"/>
                </a:solidFill>
                <a:latin typeface="Calibri"/>
              </a:rPr>
              <a:t>Full-potential margin
by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600200"/>
            <a:ext cx="2651760" cy="10515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600200"/>
            <a:ext cx="64008" cy="10515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099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A44"/>
                </a:solidFill>
                <a:latin typeface="Calibri"/>
              </a:rPr>
              <a:t>+AED 384M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03704"/>
            <a:ext cx="23774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370"/>
                </a:solidFill>
                <a:latin typeface="Calibri"/>
              </a:rPr>
              <a:t>EBITDA uplift
(~4.5x the 2021 level)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600200"/>
            <a:ext cx="2816352" cy="10515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600200"/>
            <a:ext cx="64008" cy="10515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709928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2A44"/>
                </a:solidFill>
                <a:latin typeface="Calibri"/>
              </a:rPr>
              <a:t>+AED 800M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203704"/>
            <a:ext cx="2542032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370"/>
                </a:solidFill>
                <a:latin typeface="Calibri"/>
              </a:rPr>
              <a:t>Revenue uplift
to ~AED 2,700M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80360"/>
            <a:ext cx="6903720" cy="3429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880360"/>
            <a:ext cx="690372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16936"/>
            <a:ext cx="6583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SITUATION — AND WHY IT IS URGENT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2900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232A36"/>
                </a:solidFill>
                <a:latin typeface="Calibri"/>
              </a:rPr>
              <a:t>– </a:t>
            </a:r>
            <a:r>
              <a:rPr sz="1250" b="1">
                <a:solidFill>
                  <a:srgbClr val="232A36"/>
                </a:solidFill>
                <a:latin typeface="Calibri"/>
              </a:rPr>
              <a:t>#2 in the UAE (~15% share), </a:t>
            </a:r>
            <a:r>
              <a:rPr sz="1250">
                <a:solidFill>
                  <a:srgbClr val="232A36"/>
                </a:solidFill>
                <a:latin typeface="Calibri"/>
              </a:rPr>
              <a:t>AED 1,900M revenue across milk, yogurt and ice cream in UAE, KSA and Qatar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232A36"/>
                </a:solidFill>
                <a:latin typeface="Calibri"/>
              </a:rPr>
              <a:t>– </a:t>
            </a:r>
            <a:r>
              <a:rPr sz="1250" b="1">
                <a:solidFill>
                  <a:srgbClr val="232A36"/>
                </a:solidFill>
                <a:latin typeface="Calibri"/>
              </a:rPr>
              <a:t>EBITDA fell 69% </a:t>
            </a:r>
            <a:r>
              <a:rPr sz="1250">
                <a:solidFill>
                  <a:srgbClr val="232A36"/>
                </a:solidFill>
                <a:latin typeface="Calibri"/>
              </a:rPr>
              <a:t>— from AED 362M (18.1%) in 2017 to AED 111M (5.8%) in 2021, a −25.6% annual decline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232A36"/>
                </a:solidFill>
                <a:latin typeface="Calibri"/>
              </a:rPr>
              <a:t>– </a:t>
            </a:r>
            <a:r>
              <a:rPr sz="1250" b="1">
                <a:solidFill>
                  <a:srgbClr val="232A36"/>
                </a:solidFill>
                <a:latin typeface="Calibri"/>
              </a:rPr>
              <a:t>The cause is internal: </a:t>
            </a:r>
            <a:r>
              <a:rPr sz="1250">
                <a:solidFill>
                  <a:srgbClr val="232A36"/>
                </a:solidFill>
                <a:latin typeface="Calibri"/>
              </a:rPr>
              <a:t>S&amp;D rose +7.9pp and COGS +5.2pp of revenue; brand spend stayed starved at 0.6% vs peers' 2–3%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232A36"/>
                </a:solidFill>
                <a:latin typeface="Calibri"/>
              </a:rPr>
              <a:t>– </a:t>
            </a:r>
            <a:r>
              <a:rPr sz="1250" b="1">
                <a:solidFill>
                  <a:srgbClr val="232A36"/>
                </a:solidFill>
                <a:latin typeface="Calibri"/>
              </a:rPr>
              <a:t>Markets are a tailwind: </a:t>
            </a:r>
            <a:r>
              <a:rPr sz="1250">
                <a:solidFill>
                  <a:srgbClr val="232A36"/>
                </a:solidFill>
                <a:latin typeface="Calibri"/>
              </a:rPr>
              <a:t>UAE +7.2%, KSA +5.3%, Qatar +7.9% CAGR to 2026 — yet Dairyworks is shrinking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232A36"/>
                </a:solidFill>
                <a:latin typeface="Calibri"/>
              </a:rPr>
              <a:t>– </a:t>
            </a:r>
            <a:r>
              <a:rPr sz="1250" b="1">
                <a:solidFill>
                  <a:srgbClr val="232A36"/>
                </a:solidFill>
                <a:latin typeface="Calibri"/>
              </a:rPr>
              <a:t>Peers prove the prize: </a:t>
            </a:r>
            <a:r>
              <a:rPr sz="1250">
                <a:solidFill>
                  <a:srgbClr val="232A36"/>
                </a:solidFill>
                <a:latin typeface="Calibri"/>
              </a:rPr>
              <a:t>Almarai 27%, NADEC 19%, SADAFCO 17% EBITDA margin today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880360"/>
            <a:ext cx="4096512" cy="3429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2880360"/>
            <a:ext cx="73152" cy="342900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063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9C9C"/>
                </a:solidFill>
                <a:latin typeface="Calibri"/>
              </a:rPr>
              <a:t>THE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56616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Approve the 5-year value creation plan and its four initiatives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Endorse the full-potential target: ~AED 2,700M revenue, ~AED 495M EBITDA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Fund the Year-1 distribution and brand reset to stop the decline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5715000"/>
            <a:ext cx="3657600" cy="45720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57150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Target: +AED 384M EBITDA (~4.5x)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Dairyworks &amp; peer P&amp;Ls 2017–2021; Euromonitor 2021–2026; team analysis.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SITUATION · 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A 30-year-old, three-category business across three GCC markets — scaled, but losing ground on every dimension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Portfolio, footprint, channels and brand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3016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630168" cy="5669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630168" cy="73152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355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PORTFOLIO &amp; FOOTPRINT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87168"/>
            <a:ext cx="3300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Founded 1990, UAE-based, mass-market across milk, yogurt and ice cream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5 core SKUs from value to premium (milk AED 4.5–9/L, yogurt, ice cream AED 10/L)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3 manufacturing plants, all in the UAE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Distribution in-house in UAE; outsourced in KSA and Qatar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37360"/>
            <a:ext cx="363016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37360"/>
            <a:ext cx="3630168" cy="5669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37360"/>
            <a:ext cx="3630168" cy="73152"/>
          </a:xfrm>
          <a:prstGeom prst="rect">
            <a:avLst/>
          </a:prstGeom>
          <a:solidFill>
            <a:srgbClr val="E2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810512"/>
            <a:ext cx="3355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487168"/>
            <a:ext cx="3300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Modern retail ~65%, traditional ~20% dominate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Online full-basket ~10%, quick-commerce ~5% — small but fast-growing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Distribution issues reported across all three countries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737360"/>
            <a:ext cx="363016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737360"/>
            <a:ext cx="3630168" cy="5669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737360"/>
            <a:ext cx="3630168" cy="73152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810512"/>
            <a:ext cx="3355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BRAND HEALTH — 2019 NIELSEN (n=1,000)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87168"/>
            <a:ext cx="330098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Only 1 in 5 consumers recognize the brand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~60% of those who know it don't understand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Only 1 in 10 actively seek out Dairyworks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86400"/>
            <a:ext cx="11183112" cy="713232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9C9C"/>
                </a:solidFill>
                <a:latin typeface="Calibri"/>
              </a:rPr>
              <a:t>Implication: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Dairyworks has the assets to win — scale, footprint, a premium tail — but brand, cost and distribution all work against it. Every one is a self-help lever.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Dairyworks fact-pack (introduction, portfolio, footprint &amp; channels); 2019 Nielsen survey (n=1,000).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COMPLICATION · BURNING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EBITDA collapsed from AED 362M to AED 111M and margin from 18.1% to 5.8% — a −25.6% annual decline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Dairyworks P&amp;L trajectory, 2017–2021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83080"/>
          <a:ext cx="65836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406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A2B"/>
                </a:solidFill>
                <a:latin typeface="Calibri"/>
              </a:rPr>
              <a:t>EBITDA margin:  18.1% → 18.4% → 15.3% → 11.9% → 5.8%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783080"/>
            <a:ext cx="4370832" cy="393192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783080"/>
            <a:ext cx="437083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7830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IS HAPPENING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42316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>
                <a:solidFill>
                  <a:srgbClr val="232A36"/>
                </a:solidFill>
                <a:latin typeface="Calibri"/>
              </a:rPr>
              <a:t>– </a:t>
            </a:r>
            <a:r>
              <a:rPr sz="1200" b="1">
                <a:solidFill>
                  <a:srgbClr val="232A36"/>
                </a:solidFill>
                <a:latin typeface="Calibri"/>
              </a:rPr>
              <a:t>Flat revenue, collapsing profit: </a:t>
            </a:r>
            <a:r>
              <a:rPr sz="1200">
                <a:solidFill>
                  <a:srgbClr val="232A36"/>
                </a:solidFill>
                <a:latin typeface="Calibri"/>
              </a:rPr>
              <a:t>revenue −1.3% CAGR but EBITDA −69% — the problem is margin, not the top line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>
                <a:solidFill>
                  <a:srgbClr val="232A36"/>
                </a:solidFill>
                <a:latin typeface="Calibri"/>
              </a:rPr>
              <a:t>– </a:t>
            </a:r>
            <a:r>
              <a:rPr sz="1200" b="1">
                <a:solidFill>
                  <a:srgbClr val="232A36"/>
                </a:solidFill>
                <a:latin typeface="Calibri"/>
              </a:rPr>
              <a:t>Masked share loss: </a:t>
            </a:r>
            <a:r>
              <a:rPr sz="1200">
                <a:solidFill>
                  <a:srgbClr val="232A36"/>
                </a:solidFill>
                <a:latin typeface="Calibri"/>
              </a:rPr>
              <a:t>volume fell −3.5%/yr (313→272kt), offset by +2.3%/yr price rises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00">
                <a:solidFill>
                  <a:srgbClr val="232A36"/>
                </a:solidFill>
                <a:latin typeface="Calibri"/>
              </a:rPr>
              <a:t>– </a:t>
            </a:r>
            <a:r>
              <a:rPr sz="1200" b="1">
                <a:solidFill>
                  <a:srgbClr val="232A36"/>
                </a:solidFill>
                <a:latin typeface="Calibri"/>
              </a:rPr>
              <a:t>Near break-even: </a:t>
            </a:r>
            <a:r>
              <a:rPr sz="1200">
                <a:solidFill>
                  <a:srgbClr val="232A36"/>
                </a:solidFill>
                <a:latin typeface="Calibri"/>
              </a:rPr>
              <a:t>EBIT margin hit 0.6% in 2021 — one bad year from losing money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5852160"/>
            <a:ext cx="4370832" cy="45720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5852160"/>
            <a:ext cx="4370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At 5.8%, Dairyworks earns &lt;¼ of Almarai's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Dairyworks P&amp;L 2017–2021 (volume, revenue, EBITDA, EBIT).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COMPLICATION · THE MARKET IS NOT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Dairyworks lost margin and share in markets compounding 5–8% per year — the cause is internal, not the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Company performance vs. market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846320" cy="4480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448056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3A2B"/>
                </a:solidFill>
                <a:latin typeface="Calibri"/>
              </a:rPr>
              <a:t>DAIRYWORKS IS GOING BACKWARDS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4434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</a:t>
            </a:r>
            <a:r>
              <a:rPr sz="1250" b="1">
                <a:solidFill>
                  <a:srgbClr val="FFFFFF"/>
                </a:solidFill>
                <a:latin typeface="Calibri"/>
              </a:rPr>
              <a:t>Revenue −1.3%/yr; </a:t>
            </a:r>
            <a:r>
              <a:rPr sz="1250">
                <a:solidFill>
                  <a:srgbClr val="FFFFFF"/>
                </a:solidFill>
                <a:latin typeface="Calibri"/>
              </a:rPr>
              <a:t>volume −3.5%/yr (2017–2021)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</a:t>
            </a:r>
            <a:r>
              <a:rPr sz="1250" b="1">
                <a:solidFill>
                  <a:srgbClr val="FFFFFF"/>
                </a:solidFill>
                <a:latin typeface="Calibri"/>
              </a:rPr>
              <a:t>EBITDA margin </a:t>
            </a:r>
            <a:r>
              <a:rPr sz="1250">
                <a:solidFill>
                  <a:srgbClr val="FFFFFF"/>
                </a:solidFill>
                <a:latin typeface="Calibri"/>
              </a:rPr>
              <a:t>down 12.3pp to 5.8%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</a:t>
            </a:r>
            <a:r>
              <a:rPr sz="1250" b="1">
                <a:solidFill>
                  <a:srgbClr val="FFFFFF"/>
                </a:solidFill>
                <a:latin typeface="Calibri"/>
              </a:rPr>
              <a:t>Thin, falling share </a:t>
            </a:r>
            <a:r>
              <a:rPr sz="1250">
                <a:solidFill>
                  <a:srgbClr val="FFFFFF"/>
                </a:solidFill>
                <a:latin typeface="Calibri"/>
              </a:rPr>
              <a:t>where markets are biggest: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4206240" cy="365760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4340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45736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74573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9C9C"/>
                </a:solidFill>
                <a:latin typeface="Calibri"/>
              </a:rPr>
              <a:t>~15%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KSA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14807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9C9C"/>
                </a:solidFill>
                <a:latin typeface="Calibri"/>
              </a:rPr>
              <a:t>~2%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50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Qatar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55040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9C9C"/>
                </a:solidFill>
                <a:latin typeface="Calibri"/>
              </a:rPr>
              <a:t>~7%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8288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9C9C"/>
                </a:solidFill>
                <a:latin typeface="Calibri"/>
              </a:rPr>
              <a:t>THE MARKET IS A TAILWIND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17627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370"/>
                </a:solidFill>
                <a:latin typeface="Calibri"/>
              </a:rPr>
              <a:t>Core dairy market size, USD mn RSP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577840" y="2514600"/>
          <a:ext cx="6108192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577840" y="530352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CAGR to 2026:  UAE +7.2%  ·  KSA +5.3%  ·  Qatar +7.9%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5715000"/>
            <a:ext cx="6108192" cy="54864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5715000"/>
            <a:ext cx="5943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Fastest pockets: </a:t>
            </a:r>
            <a:r>
              <a:rPr sz="1100" b="0" i="0">
                <a:solidFill>
                  <a:srgbClr val="232A36"/>
                </a:solidFill>
                <a:latin typeface="Calibri"/>
              </a:rPr>
              <a:t>organic milk +11.8%, plant-based +9.9% (Qatar +13.6%), flavored yogurt +7–9%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Dairyworks P&amp;L; Euromonitor retail value (RSP) 2021–2026 (UAE, KSA, Qatar); fact-pack share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DIAGNOSIS A · COST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Two controllable lines — S&amp;D (+7.9pp) and COGS (+5.2pp) — explain the entire 12-point collapse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EBITDA margin bridge, 2017 to 2021 (% of revenue)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035040" cy="43891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83080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783080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Change (pp)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783080"/>
            <a:ext cx="6400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1"/>
            <a:ext cx="60350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21991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COGS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21991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21991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64.5%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21991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+5.2 worse</a:t>
            </a:r>
          </a:p>
        </p:txBody>
      </p:sp>
      <p:sp>
        <p:nvSpPr>
          <p:cNvPr id="18" name="Oval 17"/>
          <p:cNvSpPr/>
          <p:nvPr/>
        </p:nvSpPr>
        <p:spPr>
          <a:xfrm>
            <a:off x="5824728" y="2377440"/>
            <a:ext cx="128016" cy="128016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2221991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60904"/>
            <a:ext cx="6035040" cy="438912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60904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S&amp;D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660904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17.0%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660904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660904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+7.9 worse</a:t>
            </a:r>
          </a:p>
        </p:txBody>
      </p:sp>
      <p:sp>
        <p:nvSpPr>
          <p:cNvPr id="25" name="Oval 24"/>
          <p:cNvSpPr/>
          <p:nvPr/>
        </p:nvSpPr>
        <p:spPr>
          <a:xfrm>
            <a:off x="5824728" y="2816352"/>
            <a:ext cx="128016" cy="128016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25896" y="2660904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099815"/>
            <a:ext cx="60350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099815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A&amp;M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099815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0.6%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099815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0.6%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099815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0.0 starved</a:t>
            </a:r>
          </a:p>
        </p:txBody>
      </p:sp>
      <p:sp>
        <p:nvSpPr>
          <p:cNvPr id="32" name="Oval 31"/>
          <p:cNvSpPr/>
          <p:nvPr/>
        </p:nvSpPr>
        <p:spPr>
          <a:xfrm>
            <a:off x="5824728" y="3255264"/>
            <a:ext cx="128016" cy="128016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5896" y="3099815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538728"/>
            <a:ext cx="6035040" cy="438912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538728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G&amp;A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3538728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538728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3538728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−0.8 better</a:t>
            </a:r>
          </a:p>
        </p:txBody>
      </p:sp>
      <p:sp>
        <p:nvSpPr>
          <p:cNvPr id="39" name="Oval 38"/>
          <p:cNvSpPr/>
          <p:nvPr/>
        </p:nvSpPr>
        <p:spPr>
          <a:xfrm>
            <a:off x="5824728" y="3694176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25896" y="3538728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977639"/>
            <a:ext cx="6035040" cy="438912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977639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EBITDA margin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977639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18.1%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3977639"/>
            <a:ext cx="731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3977639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−12.3</a:t>
            </a:r>
          </a:p>
        </p:txBody>
      </p:sp>
      <p:sp>
        <p:nvSpPr>
          <p:cNvPr id="46" name="Oval 45"/>
          <p:cNvSpPr/>
          <p:nvPr/>
        </p:nvSpPr>
        <p:spPr>
          <a:xfrm>
            <a:off x="5824728" y="4133087"/>
            <a:ext cx="128016" cy="128016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25896" y="3977639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1783080"/>
            <a:ext cx="6035040" cy="2633472"/>
          </a:xfrm>
          <a:prstGeom prst="rect">
            <a:avLst/>
          </a:prstGeom>
          <a:noFill/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2280" y="1783080"/>
            <a:ext cx="4873752" cy="36576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2280" y="1783080"/>
            <a:ext cx="487375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178308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EACH LINE MOVED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2423160"/>
            <a:ext cx="4526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>
                <a:solidFill>
                  <a:srgbClr val="232A36"/>
                </a:solidFill>
                <a:latin typeface="Calibri"/>
              </a:rPr>
              <a:t>– </a:t>
            </a:r>
            <a:r>
              <a:rPr sz="1200" b="1">
                <a:solidFill>
                  <a:srgbClr val="232A36"/>
                </a:solidFill>
                <a:latin typeface="Calibri"/>
              </a:rPr>
              <a:t>COGS +5.2pp: </a:t>
            </a:r>
            <a:r>
              <a:rPr sz="1200">
                <a:solidFill>
                  <a:srgbClr val="232A36"/>
                </a:solidFill>
                <a:latin typeface="Calibri"/>
              </a:rPr>
              <a:t>outdated plants, no scale economies, weak procurement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>
                <a:solidFill>
                  <a:srgbClr val="232A36"/>
                </a:solidFill>
                <a:latin typeface="Calibri"/>
              </a:rPr>
              <a:t>– </a:t>
            </a:r>
            <a:r>
              <a:rPr sz="1200" b="1">
                <a:solidFill>
                  <a:srgbClr val="232A36"/>
                </a:solidFill>
                <a:latin typeface="Calibri"/>
              </a:rPr>
              <a:t>S&amp;D +7.9pp: </a:t>
            </a:r>
            <a:r>
              <a:rPr sz="1200">
                <a:solidFill>
                  <a:srgbClr val="232A36"/>
                </a:solidFill>
                <a:latin typeface="Calibri"/>
              </a:rPr>
              <a:t>distribution dysfunction across all 3 countries — worst in outsourced KSA &amp; Qatar (the single largest drag)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>
                <a:solidFill>
                  <a:srgbClr val="232A36"/>
                </a:solidFill>
                <a:latin typeface="Calibri"/>
              </a:rPr>
              <a:t>– </a:t>
            </a:r>
            <a:r>
              <a:rPr sz="1200" b="1">
                <a:solidFill>
                  <a:srgbClr val="232A36"/>
                </a:solidFill>
                <a:latin typeface="Calibri"/>
              </a:rPr>
              <a:t>A&amp;M flat at 0.6%: </a:t>
            </a:r>
            <a:r>
              <a:rPr sz="1200">
                <a:solidFill>
                  <a:srgbClr val="232A36"/>
                </a:solidFill>
                <a:latin typeface="Calibri"/>
              </a:rPr>
              <a:t>chronic brand under-investment vs peers' 2–3% — root of the awareness problem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623560"/>
            <a:ext cx="10972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9C9C"/>
                </a:solidFill>
                <a:latin typeface="Calibri"/>
              </a:rPr>
              <a:t>So what: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Fixing distribution and cost alone closes ~13pp of the gap to peers. These are management levers, not market forces.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Dairyworks P&amp;L 2017–2021 (COGS, S&amp;D, A&amp;M, G&amp;A as % of revenue); fact-pack cost commentary.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DIAGNOSIS B ·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The commodity core is melting (standard milk −8%, ice cream −10%) while premium/health compounds at 40% GP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Dairyworks revenue and gross profit by SKU, 2017–2021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7589520" cy="42062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83080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Rev '17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Rev '21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Rev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783080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GP% '17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783080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GP% '21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19" y="1783080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03704"/>
            <a:ext cx="7589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203704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Standard milk, 1L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203704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03704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03704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−8.1%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203704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2203704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30%</a:t>
            </a:r>
          </a:p>
        </p:txBody>
      </p:sp>
      <p:sp>
        <p:nvSpPr>
          <p:cNvPr id="22" name="Oval 21"/>
          <p:cNvSpPr/>
          <p:nvPr/>
        </p:nvSpPr>
        <p:spPr>
          <a:xfrm>
            <a:off x="6922007" y="2350008"/>
            <a:ext cx="128016" cy="128016"/>
          </a:xfrm>
          <a:prstGeom prst="ellipse">
            <a:avLst/>
          </a:prstGeom>
          <a:solidFill>
            <a:srgbClr val="E2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5" y="2203704"/>
            <a:ext cx="9143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DEFEND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24328"/>
            <a:ext cx="7589520" cy="42062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624328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Organic milk, 1L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624328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360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624328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624328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+9.3%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2624328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2624328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31" name="Oval 30"/>
          <p:cNvSpPr/>
          <p:nvPr/>
        </p:nvSpPr>
        <p:spPr>
          <a:xfrm>
            <a:off x="6922007" y="2770632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23175" y="2624328"/>
            <a:ext cx="9143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044952"/>
            <a:ext cx="7589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044952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Standard yogurt, 500g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044952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340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3044952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04495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−4.3%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044952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3044952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30%</a:t>
            </a:r>
          </a:p>
        </p:txBody>
      </p:sp>
      <p:sp>
        <p:nvSpPr>
          <p:cNvPr id="40" name="Oval 39"/>
          <p:cNvSpPr/>
          <p:nvPr/>
        </p:nvSpPr>
        <p:spPr>
          <a:xfrm>
            <a:off x="6922007" y="3191256"/>
            <a:ext cx="128016" cy="128016"/>
          </a:xfrm>
          <a:prstGeom prst="ellipse">
            <a:avLst/>
          </a:prstGeom>
          <a:solidFill>
            <a:srgbClr val="E2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5" y="3044952"/>
            <a:ext cx="9143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FIX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465576"/>
            <a:ext cx="7589520" cy="42062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465576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Flavored yogurt, 120g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3465576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3465576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304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465576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+17.4%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3465576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79" y="3465576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49" name="Oval 48"/>
          <p:cNvSpPr/>
          <p:nvPr/>
        </p:nvSpPr>
        <p:spPr>
          <a:xfrm>
            <a:off x="6922007" y="3611880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23175" y="3465576"/>
            <a:ext cx="9143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SCALE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886200"/>
            <a:ext cx="7589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3886200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Ice cream tub, 1L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3886200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340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3886200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228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3886200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−9.5%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3886200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79" y="3886200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40%</a:t>
            </a:r>
          </a:p>
        </p:txBody>
      </p:sp>
      <p:sp>
        <p:nvSpPr>
          <p:cNvPr id="58" name="Oval 57"/>
          <p:cNvSpPr/>
          <p:nvPr/>
        </p:nvSpPr>
        <p:spPr>
          <a:xfrm>
            <a:off x="6922007" y="4032504"/>
            <a:ext cx="128016" cy="128016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23175" y="3886200"/>
            <a:ext cx="9143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REVIEW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306824"/>
            <a:ext cx="7589520" cy="420624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306824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51760" y="4306824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4306824"/>
            <a:ext cx="685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1,900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4306824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−1.3%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4306824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79" y="4306824"/>
            <a:ext cx="5943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19" y="43068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1783080"/>
            <a:ext cx="7589520" cy="2944368"/>
          </a:xfrm>
          <a:prstGeom prst="rect">
            <a:avLst/>
          </a:prstGeom>
          <a:noFill/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75320" y="1783080"/>
            <a:ext cx="3410712" cy="36576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75320" y="1783080"/>
            <a:ext cx="73152" cy="365760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WHAT THE DATA SAYS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2377440"/>
            <a:ext cx="3063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– Premium/health (organic milk + flavored yogurt) = ~43% of revenue at 40% GP, but under-scaled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– Commodity lines lost ~10pp of GP — where scale &amp; cost disadvantages bite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– By geography: UAE −3.0%/yr; KSA +1.5% (only ~2% share = biggest headroom)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" y="5623560"/>
            <a:ext cx="10972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9C9C"/>
                </a:solidFill>
                <a:latin typeface="Calibri"/>
              </a:rPr>
              <a:t>So what: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Reallocating mix to organic milk and flavored yogurt lifts blended margin and rides the fastest-growing market pockets at the same time.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Dairyworks product &amp; geography sales and gross profit, 2017–2021 (UAE, KSA, Qatar aggregated).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DIAGNOSIS C · COMPETITIVE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Peers earn 3–5x our margin on a similar cost base — the gap is distribution (S&amp;D) and inverted brand spend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Peer benchmark, 2021 (% of revenue)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83080"/>
          <a:ext cx="51206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035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370"/>
                </a:solidFill>
                <a:latin typeface="Calibri"/>
              </a:rPr>
              <a:t>EBITDA margin, 2021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783080"/>
            <a:ext cx="5833872" cy="42062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78308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1783080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S&amp;D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9216" y="1783080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A&amp;M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53344" y="1783080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EBITDA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203704"/>
            <a:ext cx="58338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203704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Dairyworks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203704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64.5%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203704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24.9%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2203704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0.6%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3344" y="2203704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624328"/>
            <a:ext cx="5833872" cy="42062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624328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SADAFCO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624328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64.0%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624328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14.2%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2624328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3344" y="2624328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17.0%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044952"/>
            <a:ext cx="58338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04495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NADEC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044952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57.0%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3044952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18.0%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3044952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53344" y="3044952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19.2%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465576"/>
            <a:ext cx="5833872" cy="42062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3465576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2A36"/>
                </a:solidFill>
                <a:latin typeface="Calibri"/>
              </a:rPr>
              <a:t>Almarai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465576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55.8%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465576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14.1%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6" y="3465576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53344" y="3465576"/>
            <a:ext cx="8412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27.0%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1783080"/>
            <a:ext cx="5833872" cy="2103120"/>
          </a:xfrm>
          <a:prstGeom prst="rect">
            <a:avLst/>
          </a:prstGeom>
          <a:noFill/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4114800"/>
            <a:ext cx="5833872" cy="123444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420624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READ-ACROSS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52628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S&amp;D is the biggest gap: 24.9% vs peers' 14–18% (~7–11pp)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Brand spend inverted: 0.6% A&amp;M vs 2–3% — starving demand, over-paying to supply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623560"/>
            <a:ext cx="10972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9C9C"/>
                </a:solidFill>
                <a:latin typeface="Calibri"/>
              </a:rPr>
              <a:t>So what: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SADAFCO proves 17% EBITDA is achievable at our COGS level — the prize is in distribution and brand, not only the factory.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Peer P&amp;Ls (Almarai, NADEC, SADAFCO) and Dairyworks P&amp;L, 2021 (% of revenue).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RESOLUTION · FULL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Four initiatives lift revenue +AED 800M and EBITDA +AED 384M — restoring an 18.3% margin in line with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Value creation bridges, 2021 base to 2026 full potential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83080"/>
          <a:ext cx="66751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Revenue bridge, AED mn:  1,900 → 2,700  (+7.3% CAGR)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783080"/>
            <a:ext cx="4325112" cy="352044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783080"/>
            <a:ext cx="4325112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783080"/>
            <a:ext cx="4114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EBITDA MARGIN BRIDGE (pp)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30428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Start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304288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370"/>
                </a:solidFill>
                <a:latin typeface="Calibri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7977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Distribution / S&amp;D turnaround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2779776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8B57"/>
                </a:solidFill>
                <a:latin typeface="Calibri"/>
              </a:rPr>
              <a:t>+8.4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25526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Manufacturing + 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3255264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8B57"/>
                </a:solidFill>
                <a:latin typeface="Calibri"/>
              </a:rPr>
              <a:t>+4.5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30752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Portfolio premiumization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730752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8B57"/>
                </a:solidFill>
                <a:latin typeface="Calibri"/>
              </a:rPr>
              <a:t>+1.5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20624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32A36"/>
                </a:solidFill>
                <a:latin typeface="Calibri"/>
              </a:rPr>
              <a:t>Brand reinvestment (A&amp;M)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4206240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3A2B"/>
                </a:solidFill>
                <a:latin typeface="Calibri"/>
              </a:rPr>
              <a:t>−1.9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663440"/>
            <a:ext cx="4050791" cy="420624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681727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Full potential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681727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18.3%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77840"/>
            <a:ext cx="11183112" cy="7132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577840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79C9C"/>
                </a:solidFill>
                <a:latin typeface="Calibri"/>
              </a:rPr>
              <a:t>Full potential: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~AED 495M EBITDA by 2026 — ~4.5x the 2021 level — reached at peer-median economics, not best-in-class Almarai.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Team value creation model; Dairyworks P&amp;L 2017–2021; peer benchmark; Euromonitor 2021–2026.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RESOLUTION ·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Four initiatives turn the diagnosis into value — a coherent, self-funding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Each initiative, its primary lever and target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58698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91440" cy="178308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1965960"/>
            <a:ext cx="566928" cy="566928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65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4489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DISTRIBUTION TURNAROUND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58568"/>
            <a:ext cx="4489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179C9C"/>
                </a:solidFill>
                <a:latin typeface="Calibri"/>
              </a:rPr>
              <a:t>Largest EBITDA lever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87752"/>
            <a:ext cx="44439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Renegotiate/insource KSA &amp; Qatar networks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Rebuild UAE route-to-market, win back shelf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172968"/>
            <a:ext cx="4352544" cy="31089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172968"/>
            <a:ext cx="4215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2A44"/>
                </a:solidFill>
                <a:latin typeface="Calibri"/>
              </a:rPr>
              <a:t>Target: </a:t>
            </a:r>
            <a:r>
              <a:rPr sz="1050" b="1" i="0">
                <a:solidFill>
                  <a:srgbClr val="179C9C"/>
                </a:solidFill>
                <a:latin typeface="Calibri"/>
              </a:rPr>
              <a:t>S&amp;D 24.9% → 16.5%  (+8.4pp)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1783080"/>
            <a:ext cx="558698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9048" y="1783080"/>
            <a:ext cx="91440" cy="1783080"/>
          </a:xfrm>
          <a:prstGeom prst="rect">
            <a:avLst/>
          </a:prstGeom>
          <a:solidFill>
            <a:srgbClr val="E2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965960"/>
            <a:ext cx="566928" cy="566928"/>
          </a:xfrm>
          <a:prstGeom prst="rect">
            <a:avLst/>
          </a:prstGeom>
          <a:solidFill>
            <a:srgbClr val="E2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47672"/>
            <a:ext cx="4489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COST &amp;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258568"/>
            <a:ext cx="4489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E29A2B"/>
                </a:solidFill>
                <a:latin typeface="Calibri"/>
              </a:rPr>
              <a:t>Modernize &amp;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587752"/>
            <a:ext cx="44439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Upgrade 3 UAE plants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Centralize procurement, capture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3172968"/>
            <a:ext cx="4352544" cy="31089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3172968"/>
            <a:ext cx="4215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2A44"/>
                </a:solidFill>
                <a:latin typeface="Calibri"/>
              </a:rPr>
              <a:t>Target: </a:t>
            </a:r>
            <a:r>
              <a:rPr sz="1050" b="1" i="0">
                <a:solidFill>
                  <a:srgbClr val="E29A2B"/>
                </a:solidFill>
                <a:latin typeface="Calibri"/>
              </a:rPr>
              <a:t>COGS 64.5% → 60.0%  (+4.5pp)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03320"/>
            <a:ext cx="558698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03320"/>
            <a:ext cx="91440" cy="1783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" y="3886200"/>
            <a:ext cx="566928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886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67911"/>
            <a:ext cx="4489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PORTFOLIO PREMIUMIZATION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178808"/>
            <a:ext cx="4489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E8B57"/>
                </a:solidFill>
                <a:latin typeface="Calibri"/>
              </a:rPr>
              <a:t>Mix to premium/health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507992"/>
            <a:ext cx="44439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Scale organic milk &amp; flavored yogurt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Rationalize commodity SKUs; enter plant-based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093208"/>
            <a:ext cx="4352544" cy="31089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5093208"/>
            <a:ext cx="4215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2A44"/>
                </a:solidFill>
                <a:latin typeface="Calibri"/>
              </a:rPr>
              <a:t>Target: </a:t>
            </a:r>
            <a:r>
              <a:rPr sz="1050" b="1" i="0">
                <a:solidFill>
                  <a:srgbClr val="2E8B57"/>
                </a:solidFill>
                <a:latin typeface="Calibri"/>
              </a:rPr>
              <a:t>+AED 360M rev  ·  +1.5pp margin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9048" y="3703320"/>
            <a:ext cx="558698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9048" y="3703320"/>
            <a:ext cx="91440" cy="178308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886200"/>
            <a:ext cx="566928" cy="56692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886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867911"/>
            <a:ext cx="4489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BRAND &amp; DEMAND RESET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4178808"/>
            <a:ext cx="4489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C03A2B"/>
                </a:solidFill>
                <a:latin typeface="Calibri"/>
              </a:rPr>
              <a:t>Fix the awareness gap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4507992"/>
            <a:ext cx="444398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Step up A&amp;M 0.6% → 2.5%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>
                <a:solidFill>
                  <a:srgbClr val="232A36"/>
                </a:solidFill>
                <a:latin typeface="Calibri"/>
              </a:rPr>
              <a:t>– Reposition to pull premium volume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59168" y="5093208"/>
            <a:ext cx="4352544" cy="310896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5093208"/>
            <a:ext cx="4215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2A44"/>
                </a:solidFill>
                <a:latin typeface="Calibri"/>
              </a:rPr>
              <a:t>Target: </a:t>
            </a:r>
            <a:r>
              <a:rPr sz="1050" b="1" i="0">
                <a:solidFill>
                  <a:srgbClr val="C03A2B"/>
                </a:solidFill>
                <a:latin typeface="Calibri"/>
              </a:rPr>
              <a:t>Enables the full revenue bridge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Team synthesis of diagnostic findings; Dairyworks cost structure and portfolio data; peer benchmark.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IMPLEMENTATION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A three-horizon plan — stop the bleed, build the engine, reach full potential — each horizon self-funds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Implementation roadmap with milestones and owners, 2026–2031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63016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30168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HORIZON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264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Stop the bleed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0–12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834640"/>
            <a:ext cx="32278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Renegotiate KSA &amp; Qatar distribution contracts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Procurement quick wins; rationalize loss-making SKUs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Brand relaunch 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800600"/>
            <a:ext cx="3264408" cy="658368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3081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A44"/>
                </a:solidFill>
                <a:latin typeface="Calibri"/>
              </a:rPr>
              <a:t>Milestone: S&amp;D −3pp; break-even protected by M12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32120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370"/>
                </a:solidFill>
                <a:latin typeface="Calibri"/>
              </a:rPr>
              <a:t>Owner: COO · CPO · CMO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783080"/>
            <a:ext cx="363016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783080"/>
            <a:ext cx="3630168" cy="868680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84708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HORIZON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103120"/>
            <a:ext cx="3264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Build the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39572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12–36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834640"/>
            <a:ext cx="32278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Plant modernization capex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Scale organic milk &amp; flavored yogurt; KSA share offensive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National brand campaign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4800600"/>
            <a:ext cx="3264408" cy="658368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4846320"/>
            <a:ext cx="3081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A44"/>
                </a:solidFill>
                <a:latin typeface="Calibri"/>
              </a:rPr>
              <a:t>Milestone: EBITDA ~12%; KSA share 2%→4% by M36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5532120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370"/>
                </a:solidFill>
                <a:latin typeface="Calibri"/>
              </a:rPr>
              <a:t>Owner: COO · CMO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016" y="1783080"/>
            <a:ext cx="363016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9016" y="1783080"/>
            <a:ext cx="3630168" cy="86868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184708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HORIZON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103120"/>
            <a:ext cx="3264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Reach full potential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39572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36–60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2834640"/>
            <a:ext cx="322783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Enter plant-based &amp; functional dairy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Lead modern &amp; online channels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>
                <a:solidFill>
                  <a:srgbClr val="232A36"/>
                </a:solidFill>
                <a:latin typeface="Calibri"/>
              </a:rPr>
              <a:t>– Embed premium mix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4800600"/>
            <a:ext cx="3264408" cy="658368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4846320"/>
            <a:ext cx="3081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A44"/>
                </a:solidFill>
                <a:latin typeface="Calibri"/>
              </a:rPr>
              <a:t>Milestone: Rev ~AED 2,700M; EBITDA ~18.3% by Yr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5532120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370"/>
                </a:solidFill>
                <a:latin typeface="Calibri"/>
              </a:rPr>
              <a:t>Owner: CEO · CSO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Team implementation plan; initiative economics from the value creation model.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79C9C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Approve the plan and fund the Year-1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029200" cy="4572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79C9C"/>
                </a:solidFill>
                <a:latin typeface="Calibri"/>
              </a:rPr>
              <a:t>WHAT WE ASK THE BOARD TO 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– Endorse the full-potential target: ~AED 2,700M revenue and ~AED 495M EBITDA (18.3%) by 2026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– Approve the four initiatives and the three-horizon sequence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– Authorize Horizon-1 funding: distribution renegotiation, procurement quick wins, SKU rationalization, brand relaunch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651760"/>
            <a:ext cx="4919472" cy="3291840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2651760"/>
            <a:ext cx="73152" cy="3291840"/>
          </a:xfrm>
          <a:prstGeom prst="rect">
            <a:avLst/>
          </a:prstGeom>
          <a:solidFill>
            <a:srgbClr val="E2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9A2B"/>
                </a:solidFill>
                <a:latin typeface="Calibri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38328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– At 5.8% EBITDA and near-zero EBIT, every year of inaction destroys value and cedes share in markets growing 5–8%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– Horizon-1 is operational self-help — low capital intensity, fast payback — and de-risks later growth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172200"/>
            <a:ext cx="10881360" cy="45720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Decision: approve the plan and Year-1 reset  ·  Target outcome: +AED 384M EBITDA (~4.5x) over five years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solidFill>
            <a:srgbClr val="2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8567" y="4069080"/>
            <a:ext cx="2194560" cy="4572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9C9C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2A44"/>
                </a:solidFill>
                <a:latin typeface="Calibri"/>
              </a:rPr>
              <a:t>Discussion questions for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603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370"/>
                </a:solidFill>
                <a:latin typeface="Calibri"/>
              </a:rPr>
              <a:t>Key decisions and risks to pressure-test before committing capital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Distribution: </a:t>
            </a:r>
            <a:r>
              <a:rPr sz="1350" b="0" i="0">
                <a:solidFill>
                  <a:srgbClr val="232A36"/>
                </a:solidFill>
                <a:latin typeface="Calibri"/>
              </a:rPr>
              <a:t>insource KSA/Qatar or renegotiate? What is the make-vs-buy economics and transition risk?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9191"/>
            <a:ext cx="3657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33472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Capex: </a:t>
            </a:r>
            <a:r>
              <a:rPr sz="1350" b="0" i="0">
                <a:solidFill>
                  <a:srgbClr val="232A36"/>
                </a:solidFill>
                <a:latin typeface="Calibri"/>
              </a:rPr>
              <a:t>what is the investment envelope and payback for modernizing the three UAE plants?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46704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Brand: </a:t>
            </a:r>
            <a:r>
              <a:rPr sz="1350" b="0" i="0">
                <a:solidFill>
                  <a:srgbClr val="232A36"/>
                </a:solidFill>
                <a:latin typeface="Calibri"/>
              </a:rPr>
              <a:t>what A&amp;M ramp and positioning move awareness from 1-in-5, and over what period?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3657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0565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59936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Portfolio: </a:t>
            </a:r>
            <a:r>
              <a:rPr sz="1350" b="0" i="0">
                <a:solidFill>
                  <a:srgbClr val="232A36"/>
                </a:solidFill>
                <a:latin typeface="Calibri"/>
              </a:rPr>
              <a:t>which commodity SKUs do we exit, and how do we protect volume in the transition?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18888"/>
            <a:ext cx="365760" cy="365760"/>
          </a:xfrm>
          <a:prstGeom prst="rect">
            <a:avLst/>
          </a:prstGeom>
          <a:solidFill>
            <a:srgbClr val="17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73168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Growth: </a:t>
            </a:r>
            <a:r>
              <a:rPr sz="1350" b="0" i="0">
                <a:solidFill>
                  <a:srgbClr val="232A36"/>
                </a:solidFill>
                <a:latin typeface="Calibri"/>
              </a:rPr>
              <a:t>is KSA share recovery organic, or do we need M&amp;A/partnership from a ~2% base?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Risk: </a:t>
            </a:r>
            <a:r>
              <a:rPr sz="1350" b="0" i="0">
                <a:solidFill>
                  <a:srgbClr val="232A36"/>
                </a:solidFill>
                <a:latin typeface="Calibri"/>
              </a:rPr>
              <a:t>key sensitivities — input-cost inflation, Almarai's competitive response — on the EBITDA bridge?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370"/>
                </a:solidFill>
                <a:latin typeface="Calibri"/>
              </a:rPr>
              <a:t>Source: Team synthesis.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D6DAE0"/>
                </a:solidFill>
                <a:latin typeface="Calibri"/>
              </a:rPr>
              <a:t>McKinsey &amp; Company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164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6DAE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