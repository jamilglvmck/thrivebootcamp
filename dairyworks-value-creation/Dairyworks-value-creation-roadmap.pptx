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39000" y="190500"/>
            <a:ext cx="457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6E7E"/>
                </a:solidFill>
                <a:latin typeface="Arial"/>
              </a:rPr>
              <a:t>Value creation  ›  </a:t>
            </a:r>
            <a:r>
              <a:rPr sz="900" b="1" i="0">
                <a:solidFill>
                  <a:srgbClr val="191B3A"/>
                </a:solidFill>
                <a:latin typeface="Arial"/>
              </a:rPr>
              <a:t>Revenue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323850"/>
            <a:ext cx="10668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91B3A"/>
                </a:solidFill>
                <a:latin typeface="Georgia"/>
              </a:rPr>
              <a:t>Premium already grows ~12% a year, and we have not raised price in five years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314450"/>
            <a:ext cx="11201400" cy="9525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619875"/>
            <a:ext cx="38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EB2C0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066800"/>
            <a:ext cx="5715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A6E7E"/>
                </a:solidFill>
                <a:latin typeface="Arial"/>
              </a:rPr>
              <a:t>Revenue by portfolio tier, 2017–21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0" y="1447800"/>
            <a:ext cx="133350" cy="133350"/>
          </a:xfrm>
          <a:prstGeom prst="rect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0" y="1428750"/>
            <a:ext cx="857250" cy="171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91B3A"/>
                </a:solidFill>
                <a:latin typeface="Arial"/>
              </a:rPr>
              <a:t>Commodity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9544050" y="1638300"/>
            <a:ext cx="133350" cy="133350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34550" y="1619250"/>
            <a:ext cx="857250" cy="171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91B3A"/>
                </a:solidFill>
                <a:latin typeface="Arial"/>
              </a:rP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1638300"/>
            <a:ext cx="381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91B3A"/>
                </a:solidFill>
                <a:latin typeface="Georgia"/>
              </a:rPr>
              <a:t>Revenue by portfolio tier, AED 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950" y="3571875"/>
            <a:ext cx="647700" cy="2257425"/>
          </a:xfrm>
          <a:prstGeom prst="rect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1,480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2950" y="2781300"/>
            <a:ext cx="647700" cy="790575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520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850" y="255270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2,000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625" y="2286000"/>
            <a:ext cx="514350" cy="228600"/>
          </a:xfrm>
          <a:prstGeom prst="roundRect">
            <a:avLst>
              <a:gd name="adj" fmla="val 50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26%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590550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2017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19250" y="3638550"/>
            <a:ext cx="647700" cy="2190750"/>
          </a:xfrm>
          <a:prstGeom prst="rect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1,435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19250" y="2743200"/>
            <a:ext cx="647700" cy="895350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585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150" y="251460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2,020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85925" y="2247900"/>
            <a:ext cx="514350" cy="228600"/>
          </a:xfrm>
          <a:prstGeom prst="roundRect">
            <a:avLst>
              <a:gd name="adj" fmla="val 50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29%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150" y="590550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2018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95550" y="3895725"/>
            <a:ext cx="647700" cy="1933575"/>
          </a:xfrm>
          <a:prstGeom prst="rect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1,267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95550" y="2762250"/>
            <a:ext cx="647700" cy="1133475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743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7450" y="253365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2,010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62225" y="2266950"/>
            <a:ext cx="514350" cy="228600"/>
          </a:xfrm>
          <a:prstGeom prst="roundRect">
            <a:avLst>
              <a:gd name="adj" fmla="val 50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37%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7450" y="590550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2019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71850" y="4095750"/>
            <a:ext cx="647700" cy="1733550"/>
          </a:xfrm>
          <a:prstGeom prst="rect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1,138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71850" y="2838450"/>
            <a:ext cx="647700" cy="1257300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822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3750" y="260985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1,960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38525" y="2343150"/>
            <a:ext cx="514350" cy="228600"/>
          </a:xfrm>
          <a:prstGeom prst="roundRect">
            <a:avLst>
              <a:gd name="adj" fmla="val 50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3750" y="590550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2020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48150" y="4181475"/>
            <a:ext cx="647700" cy="1647825"/>
          </a:xfrm>
          <a:prstGeom prst="rect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1,083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48150" y="2933700"/>
            <a:ext cx="647700" cy="1247775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817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10050" y="270510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1,900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4825" y="2438400"/>
            <a:ext cx="514350" cy="228600"/>
          </a:xfrm>
          <a:prstGeom prst="roundRect">
            <a:avLst>
              <a:gd name="adj" fmla="val 50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43%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10050" y="5905500"/>
            <a:ext cx="723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2021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2950" y="5829300"/>
            <a:ext cx="4191000" cy="9525"/>
          </a:xfrm>
          <a:prstGeom prst="rect">
            <a:avLst/>
          </a:prstGeom>
          <a:solidFill>
            <a:srgbClr val="19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34000" y="2095500"/>
            <a:ext cx="1333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6E7E"/>
                </a:solidFill>
                <a:latin typeface="Arial"/>
              </a:rPr>
              <a:t>CAGR 2017–21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7500" y="2038350"/>
            <a:ext cx="10477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6F74DB"/>
                </a:solidFill>
                <a:latin typeface="Georgia"/>
              </a:rPr>
              <a:t>Premium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72375" y="2038350"/>
            <a:ext cx="114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2B2E86"/>
                </a:solidFill>
                <a:latin typeface="Georgia"/>
              </a:rPr>
              <a:t>Commodity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34000" y="2705100"/>
            <a:ext cx="133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91B3A"/>
                </a:solidFill>
                <a:latin typeface="Arial"/>
              </a:rPr>
              <a:t>Revenue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91B3A"/>
                </a:solidFill>
                <a:latin typeface="Arial"/>
              </a:rPr>
              <a:t>growth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2750" y="2667000"/>
            <a:ext cx="85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6F74DB"/>
                </a:solidFill>
                <a:latin typeface="Arial"/>
              </a:rPr>
              <a:t>+12%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7625" y="2667000"/>
            <a:ext cx="904875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2B2E86"/>
                </a:solidFill>
                <a:latin typeface="Arial"/>
              </a:rPr>
              <a:t>−8%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0" y="3467100"/>
            <a:ext cx="133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91B3A"/>
                </a:solidFill>
                <a:latin typeface="Arial"/>
              </a:rPr>
              <a:t>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91B3A"/>
                </a:solidFill>
                <a:latin typeface="Arial"/>
              </a:rPr>
              <a:t>growth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2750" y="3429000"/>
            <a:ext cx="85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6F74DB"/>
                </a:solidFill>
                <a:latin typeface="Arial"/>
              </a:rPr>
              <a:t>+11%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7625" y="3429000"/>
            <a:ext cx="904875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2B2E86"/>
                </a:solidFill>
                <a:latin typeface="Arial"/>
              </a:rPr>
              <a:t>−8%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0" y="4229100"/>
            <a:ext cx="133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91B3A"/>
                </a:solidFill>
                <a:latin typeface="Arial"/>
              </a:rPr>
              <a:t>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91B3A"/>
                </a:solidFill>
                <a:latin typeface="Arial"/>
              </a:rPr>
              <a:t>growth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2750" y="4191000"/>
            <a:ext cx="85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6F74DB"/>
                </a:solidFill>
                <a:latin typeface="Arial"/>
              </a:rPr>
              <a:t>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7625" y="4191000"/>
            <a:ext cx="904875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2B2E86"/>
                </a:solidFill>
                <a:latin typeface="Arial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34000" y="4895850"/>
            <a:ext cx="31432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1">
                <a:solidFill>
                  <a:srgbClr val="6A6E7E"/>
                </a:solidFill>
                <a:latin typeface="Arial"/>
              </a:rPr>
              <a:t>Price per SKU is identical in 2017 and 2021 — every dirham of decline is lost volume.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39200" y="1981200"/>
            <a:ext cx="9525" cy="4000500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67800" y="2038350"/>
            <a:ext cx="285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10" b="1" i="0">
                <a:solidFill>
                  <a:srgbClr val="2B2E86"/>
                </a:solidFill>
                <a:latin typeface="Arial"/>
              </a:rPr>
              <a:t>•  </a:t>
            </a:r>
            <a:r>
              <a:rPr sz="1010" b="1" i="0">
                <a:solidFill>
                  <a:srgbClr val="191B3A"/>
                </a:solidFill>
                <a:latin typeface="Arial"/>
              </a:rPr>
              <a:t>Price frozen for 5 years. </a:t>
            </a:r>
            <a:r>
              <a:rPr sz="1010" b="0" i="0">
                <a:solidFill>
                  <a:srgbClr val="191B3A"/>
                </a:solidFill>
                <a:latin typeface="Arial"/>
              </a:rPr>
              <a:t>Every SKU holds its 2017 price; on commodity lines cost inflation cut </a:t>
            </a:r>
            <a:r>
              <a:rPr sz="1010" b="1" i="0">
                <a:solidFill>
                  <a:srgbClr val="2B2E86"/>
                </a:solidFill>
                <a:latin typeface="Arial"/>
              </a:rPr>
              <a:t>GP% from 40%→30% </a:t>
            </a:r>
            <a:r>
              <a:rPr sz="1010" b="0" i="0">
                <a:solidFill>
                  <a:srgbClr val="191B3A"/>
                </a:solidFill>
                <a:latin typeface="Arial"/>
              </a:rPr>
              <a:t>— pricing is untapped and pure margin.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7800" y="2952750"/>
            <a:ext cx="285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10" b="1" i="0">
                <a:solidFill>
                  <a:srgbClr val="2B2E86"/>
                </a:solidFill>
                <a:latin typeface="Arial"/>
              </a:rPr>
              <a:t>•  </a:t>
            </a:r>
            <a:r>
              <a:rPr sz="1010" b="1" i="0">
                <a:solidFill>
                  <a:srgbClr val="191B3A"/>
                </a:solidFill>
                <a:latin typeface="Arial"/>
              </a:rPr>
              <a:t>Volume lost to the market. </a:t>
            </a:r>
            <a:r>
              <a:rPr sz="1010" b="0" i="0">
                <a:solidFill>
                  <a:srgbClr val="191B3A"/>
                </a:solidFill>
                <a:latin typeface="Arial"/>
              </a:rPr>
              <a:t>Our volume fell while the category grew ~4%/yr — </a:t>
            </a:r>
            <a:r>
              <a:rPr sz="1010" b="1" i="0">
                <a:solidFill>
                  <a:srgbClr val="191B3A"/>
                </a:solidFill>
                <a:latin typeface="Arial"/>
              </a:rPr>
              <a:t>share recovery is the largest pool.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67800" y="3867150"/>
            <a:ext cx="2857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10" b="1" i="0">
                <a:solidFill>
                  <a:srgbClr val="2B2E86"/>
                </a:solidFill>
                <a:latin typeface="Arial"/>
              </a:rPr>
              <a:t>•  </a:t>
            </a:r>
            <a:r>
              <a:rPr sz="1010" b="1" i="0">
                <a:solidFill>
                  <a:srgbClr val="191B3A"/>
                </a:solidFill>
                <a:latin typeface="Arial"/>
              </a:rPr>
              <a:t>Mix is already winning. </a:t>
            </a:r>
            <a:r>
              <a:rPr sz="1010" b="0" i="0">
                <a:solidFill>
                  <a:srgbClr val="191B3A"/>
                </a:solidFill>
                <a:latin typeface="Arial"/>
              </a:rPr>
              <a:t>Premium rose </a:t>
            </a:r>
            <a:r>
              <a:rPr sz="1010" b="1" i="0">
                <a:solidFill>
                  <a:srgbClr val="6F74DB"/>
                </a:solidFill>
                <a:latin typeface="Arial"/>
              </a:rPr>
              <a:t>26%→43% of revenue </a:t>
            </a:r>
            <a:r>
              <a:rPr sz="1010" b="0" i="0">
                <a:solidFill>
                  <a:srgbClr val="191B3A"/>
                </a:solidFill>
                <a:latin typeface="Arial"/>
              </a:rPr>
              <a:t>at ~+12%/yr and holds 40% GP.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5300" y="6210300"/>
            <a:ext cx="11201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6A6E7E"/>
                </a:solidFill>
                <a:latin typeface="Arial"/>
              </a:rPr>
              <a:t>Note: Premium = organic milk + flavoured yogurt; Commodity = standard milk, standard yogurt, ice cream. Price = revenue ÷ volume per SKU. CAGR = compound annual growth rate 2017–21.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5300" y="6534150"/>
            <a:ext cx="11201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6A6E7E"/>
                </a:solidFill>
                <a:latin typeface="Arial"/>
              </a:rPr>
              <a:t>Source: Dairyworks product &amp; geography sales and GP (2017–2021); Euromonitor UAE retail value (RSP).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39000" y="190500"/>
            <a:ext cx="457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6E7E"/>
                </a:solidFill>
                <a:latin typeface="Arial"/>
              </a:rPr>
              <a:t>Value creation  ›  </a:t>
            </a:r>
            <a:r>
              <a:rPr sz="900" b="1" i="0">
                <a:solidFill>
                  <a:srgbClr val="191B3A"/>
                </a:solidFill>
                <a:latin typeface="Arial"/>
              </a:rPr>
              <a:t>Revenue levers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323850"/>
            <a:ext cx="10668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91B3A"/>
                </a:solidFill>
                <a:latin typeface="Georgia"/>
              </a:rPr>
              <a:t>Five levers rebuild revenue to ~AED 2.7bn by Year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314450"/>
            <a:ext cx="11201400" cy="9525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619875"/>
            <a:ext cx="38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EB2C0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066800"/>
            <a:ext cx="1066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A6E7E"/>
                </a:solidFill>
                <a:latin typeface="Arial"/>
              </a:rPr>
              <a:t>Sequenced from the fastest, self-funding levers to longer-horizon growth; impact ranges illustrative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95300" y="1581150"/>
          <a:ext cx="11201400" cy="31432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6500"/>
                <a:gridCol w="7296150"/>
                <a:gridCol w="1428750"/>
              </a:tblGrid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Revenue lever</a:t>
                      </a:r>
                    </a:p>
                  </a:txBody>
                  <a:tcPr anchor="ctr" marL="114300" marR="114300" marT="57150" marB="57150">
                    <a:solidFill>
                      <a:srgbClr val="2B2E8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What we will do</a:t>
                      </a:r>
                    </a:p>
                  </a:txBody>
                  <a:tcPr anchor="ctr" marL="114300" marR="114300" marT="57150" marB="57150">
                    <a:solidFill>
                      <a:srgbClr val="2B2E8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Value captured (Year 5)</a:t>
                      </a:r>
                    </a:p>
                  </a:txBody>
                  <a:tcPr anchor="ctr" marL="114300" marR="114300" marT="57150" marB="57150">
                    <a:solidFill>
                      <a:srgbClr val="2B2E86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6F74DB"/>
                          </a:solidFill>
                          <a:latin typeface="Arial"/>
                        </a:rPr>
                        <a:t>1   </a:t>
                      </a:r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Pricing &amp; revenue mgmt</a:t>
                      </a:r>
                    </a:p>
                  </a:txBody>
                  <a:tcPr anchor="ctr" marL="114300" marR="1143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Recover five years of untaken price; price-pack architecture; trade-spend reset</a:t>
                      </a:r>
                    </a:p>
                  </a:txBody>
                  <a:tcPr anchor="ctr" marL="114300" marR="1143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B2E86"/>
                          </a:solidFill>
                          <a:latin typeface="Arial"/>
                        </a:rPr>
                        <a:t>+~AED 200M</a:t>
                      </a:r>
                    </a:p>
                  </a:txBody>
                  <a:tcPr anchor="ctr" marL="114300" marR="114300" marT="57150" marB="5715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6F74DB"/>
                          </a:solidFill>
                          <a:latin typeface="Arial"/>
                        </a:rPr>
                        <a:t>2   </a:t>
                      </a:r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Share recovery</a:t>
                      </a:r>
                    </a:p>
                  </a:txBody>
                  <a:tcPr anchor="ctr" marL="114300" marR="114300" marT="57150" marB="57150"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Rebuild UAE route-to-market, reset A&amp;M 0.6%→~3%, win back KSA &amp; Qatar listings</a:t>
                      </a:r>
                    </a:p>
                  </a:txBody>
                  <a:tcPr anchor="ctr" marL="114300" marR="114300" marT="57150" marB="57150"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B2E86"/>
                          </a:solidFill>
                          <a:latin typeface="Arial"/>
                        </a:rPr>
                        <a:t>+~AED 250M</a:t>
                      </a:r>
                    </a:p>
                  </a:txBody>
                  <a:tcPr anchor="ctr" marL="114300" marR="114300" marT="57150" marB="57150">
                    <a:solidFill>
                      <a:srgbClr val="EEF0F7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6F74DB"/>
                          </a:solidFill>
                          <a:latin typeface="Arial"/>
                        </a:rPr>
                        <a:t>3   </a:t>
                      </a:r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Mix &amp; premiumization</a:t>
                      </a:r>
                    </a:p>
                  </a:txBody>
                  <a:tcPr anchor="ctr" marL="114300" marR="1143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Scale organic milk &amp; flavoured yogurt; premiumize and relaunch ice cream</a:t>
                      </a:r>
                    </a:p>
                  </a:txBody>
                  <a:tcPr anchor="ctr" marL="114300" marR="1143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B2E86"/>
                          </a:solidFill>
                          <a:latin typeface="Arial"/>
                        </a:rPr>
                        <a:t>+~AED 120M</a:t>
                      </a:r>
                    </a:p>
                  </a:txBody>
                  <a:tcPr anchor="ctr" marL="114300" marR="114300" marT="57150" marB="5715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6F74DB"/>
                          </a:solidFill>
                          <a:latin typeface="Arial"/>
                        </a:rPr>
                        <a:t>4   </a:t>
                      </a:r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New categories</a:t>
                      </a:r>
                    </a:p>
                  </a:txBody>
                  <a:tcPr anchor="ctr" marL="114300" marR="114300" marT="57150" marB="57150"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Enter plant-based &amp; sour-milk adjacencies on a proven best-practice playbook</a:t>
                      </a:r>
                    </a:p>
                  </a:txBody>
                  <a:tcPr anchor="ctr" marL="114300" marR="114300" marT="57150" marB="57150"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B2E86"/>
                          </a:solidFill>
                          <a:latin typeface="Arial"/>
                        </a:rPr>
                        <a:t>+~AED 110M</a:t>
                      </a:r>
                    </a:p>
                  </a:txBody>
                  <a:tcPr anchor="ctr" marL="114300" marR="114300" marT="57150" marB="57150">
                    <a:solidFill>
                      <a:srgbClr val="EEF0F7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6F74DB"/>
                          </a:solidFill>
                          <a:latin typeface="Arial"/>
                        </a:rPr>
                        <a:t>5   </a:t>
                      </a:r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New markets</a:t>
                      </a:r>
                    </a:p>
                  </a:txBody>
                  <a:tcPr anchor="ctr" marL="114300" marR="1143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91B3A"/>
                          </a:solidFill>
                          <a:latin typeface="Arial"/>
                        </a:rPr>
                        <a:t>Scale KSA and enter North Africa (Egypt, Morocco) via export / distributor model</a:t>
                      </a:r>
                    </a:p>
                  </a:txBody>
                  <a:tcPr anchor="ctr" marL="114300" marR="1143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B2E86"/>
                          </a:solidFill>
                          <a:latin typeface="Arial"/>
                        </a:rPr>
                        <a:t>+~AED 120M</a:t>
                      </a:r>
                    </a:p>
                  </a:txBody>
                  <a:tcPr anchor="ctr" marL="114300" marR="114300" marT="57150" marB="571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5300" y="6534150"/>
            <a:ext cx="11201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6A6E7E"/>
                </a:solidFill>
                <a:latin typeface="Arial"/>
              </a:rPr>
              <a:t>Impact ranges are illustrative, from the team value-creation model. Source: Dairyworks product &amp; geography sales and GP (2017–2021); Euromonitor; peer benchmark.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39000" y="190500"/>
            <a:ext cx="457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6E7E"/>
                </a:solidFill>
                <a:latin typeface="Arial"/>
              </a:rPr>
              <a:t>Value creation  ›  </a:t>
            </a:r>
            <a:r>
              <a:rPr sz="900" b="1" i="0">
                <a:solidFill>
                  <a:srgbClr val="191B3A"/>
                </a:solidFill>
                <a:latin typeface="Arial"/>
              </a:rPr>
              <a:t>Lever 1 of 5 · Pricing &amp; revenue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323850"/>
            <a:ext cx="10668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91B3A"/>
                </a:solidFill>
                <a:latin typeface="Georgia"/>
              </a:rPr>
              <a:t>Lever 1 — Price has been flat for five years; a modest rise restores commodity margin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314450"/>
            <a:ext cx="11201400" cy="9525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619875"/>
            <a:ext cx="38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EB2C0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066800"/>
            <a:ext cx="1066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A6E7E"/>
                </a:solidFill>
                <a:latin typeface="Arial"/>
              </a:rPr>
              <a:t>The pricing solutions, and the revenue and margin they unlock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300" y="1581150"/>
            <a:ext cx="53340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The solutions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" y="2057400"/>
            <a:ext cx="5334000" cy="819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6750" y="2247900"/>
            <a:ext cx="438150" cy="438150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6350" y="2190750"/>
            <a:ext cx="4381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2B2E86"/>
                </a:solidFill>
                <a:latin typeface="Georgia"/>
              </a:rPr>
              <a:t>Recover list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6350" y="2438400"/>
            <a:ext cx="4381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What: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Phase modest increases — single-digit to mid-teens — across commodity lines.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Why: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Price frozen five years; cost inflation cut commodity GP from 40%→30% — pure recoverable margin.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300" y="2990850"/>
            <a:ext cx="5334000" cy="819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6750" y="3181350"/>
            <a:ext cx="438150" cy="438150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6350" y="3124200"/>
            <a:ext cx="4381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2B2E86"/>
                </a:solidFill>
                <a:latin typeface="Georgia"/>
              </a:rPr>
              <a:t>Price-pack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6350" y="3371850"/>
            <a:ext cx="4381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What: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Entry, core and premium price points; smaller packs at a higher price per kg.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Why: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Lifts effective price without sticker shock, and keeps an opening price point for value shoppers.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300" y="3924300"/>
            <a:ext cx="5334000" cy="819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6750" y="4114800"/>
            <a:ext cx="438150" cy="438150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6350" y="4057650"/>
            <a:ext cx="4381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2B2E86"/>
                </a:solidFill>
                <a:latin typeface="Georgia"/>
              </a:rPr>
              <a:t>Premium price ladders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6350" y="4305300"/>
            <a:ext cx="4381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What: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Raise prices on organic and flavoured lines.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Why: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They already grow double-digit at 40% GP — willingness-to-pay is proven, so the headroom is real.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1581150"/>
            <a:ext cx="54864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The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0300" y="205740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Georgia"/>
              </a:rPr>
              <a:t>Revenue uplift by Year 5 — AED Mn (illustrative)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0300" y="241935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Price recovery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10450" y="2400300"/>
            <a:ext cx="3238500" cy="2095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150" y="240030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150M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0300" y="281940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Price-pack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10450" y="2800350"/>
            <a:ext cx="647700" cy="209550"/>
          </a:xfrm>
          <a:prstGeom prst="roundRect">
            <a:avLst>
              <a:gd name="adj" fmla="val 12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4350" y="280035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30M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0300" y="321945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Premium ladders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10450" y="3200400"/>
            <a:ext cx="428625" cy="209550"/>
          </a:xfrm>
          <a:prstGeom prst="roundRect">
            <a:avLst>
              <a:gd name="adj" fmla="val 12000"/>
            </a:avLst>
          </a:prstGeom>
          <a:solidFill>
            <a:srgbClr val="949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15275" y="320040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20M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0300" y="3810000"/>
            <a:ext cx="38100" cy="495300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0300" y="3810000"/>
            <a:ext cx="5486400" cy="495300"/>
          </a:xfrm>
          <a:prstGeom prst="rect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3335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91B3A"/>
                </a:solidFill>
                <a:latin typeface="Arial"/>
              </a:rPr>
              <a:t>Commodity gross margin </a:t>
            </a:r>
            <a:r>
              <a:rPr sz="980" b="1" i="0">
                <a:solidFill>
                  <a:srgbClr val="2B2E86"/>
                </a:solidFill>
                <a:latin typeface="Arial"/>
              </a:rPr>
              <a:t>30% → ~40%</a:t>
            </a:r>
            <a:r>
              <a:rPr sz="980" b="0" i="0">
                <a:solidFill>
                  <a:srgbClr val="191B3A"/>
                </a:solidFill>
                <a:latin typeface="Arial"/>
              </a:rPr>
              <a:t> — nearly all of the price increase drops straight through to profit.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0300" y="4476750"/>
            <a:ext cx="5486400" cy="666750"/>
          </a:xfrm>
          <a:prstGeom prst="roundRect">
            <a:avLst>
              <a:gd name="adj" fmla="val 6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5240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+~AED 200M revenue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FFFFF"/>
                </a:solidFill>
                <a:latin typeface="Arial"/>
              </a:rPr>
              <a:t>~90% flows to gross profit. Fastest, lowest-capital lever — start in Horizon 1.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5300" y="5810250"/>
            <a:ext cx="11201400" cy="381000"/>
          </a:xfrm>
          <a:prstGeom prst="roundRect">
            <a:avLst>
              <a:gd name="adj" fmla="val 8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7145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 i="0">
                <a:solidFill>
                  <a:srgbClr val="FFFFFF"/>
                </a:solidFill>
                <a:latin typeface="Arial"/>
              </a:rPr>
              <a:t>So what:  </a:t>
            </a:r>
            <a:r>
              <a:rPr sz="1090" b="0" i="0">
                <a:solidFill>
                  <a:srgbClr val="FFFFFF"/>
                </a:solidFill>
                <a:latin typeface="Arial"/>
              </a:rPr>
              <a:t>Pricing is the fastest win and nearly all margin — flat prices leave ~half the commodity GP erosion on the table.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" y="6534150"/>
            <a:ext cx="11201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6A6E7E"/>
                </a:solidFill>
                <a:latin typeface="Arial"/>
              </a:rPr>
              <a:t>Source: Dairyworks product &amp; geography sales and GP (2017–2021); impact split illustrative, from the value-creation model. Price = revenue ÷ volume per SKU.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39000" y="190500"/>
            <a:ext cx="457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6E7E"/>
                </a:solidFill>
                <a:latin typeface="Arial"/>
              </a:rPr>
              <a:t>Value creation  ›  </a:t>
            </a:r>
            <a:r>
              <a:rPr sz="900" b="1" i="0">
                <a:solidFill>
                  <a:srgbClr val="191B3A"/>
                </a:solidFill>
                <a:latin typeface="Arial"/>
              </a:rPr>
              <a:t>Lever 2 of 5 · Share recovery (distribution &amp; brand)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323850"/>
            <a:ext cx="10668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91B3A"/>
                </a:solidFill>
                <a:latin typeface="Georgia"/>
              </a:rPr>
              <a:t>Lever 2 — We shrank while the market grew; closing the gap is the biggest prize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314450"/>
            <a:ext cx="11201400" cy="9525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619875"/>
            <a:ext cx="38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EB2C0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066800"/>
            <a:ext cx="1066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A6E7E"/>
                </a:solidFill>
                <a:latin typeface="Arial"/>
              </a:rPr>
              <a:t>We shrank while the market grew — distribution and brand win it 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300" y="1581150"/>
            <a:ext cx="53340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The solutions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" y="2057400"/>
            <a:ext cx="5334000" cy="819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6750" y="2247900"/>
            <a:ext cx="438150" cy="438150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6350" y="2190750"/>
            <a:ext cx="4381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2B2E86"/>
                </a:solidFill>
                <a:latin typeface="Georgia"/>
              </a:rPr>
              <a:t>Rebuild route-to-market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6350" y="2438400"/>
            <a:ext cx="4381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What: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Fix on-shelf availability, distribution reach and modern-trade + online execution.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Why: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Availability slipped while the market grew — shoppers can’t buy what they can’t find.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300" y="2990850"/>
            <a:ext cx="5334000" cy="819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6750" y="3181350"/>
            <a:ext cx="438150" cy="438150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6350" y="3124200"/>
            <a:ext cx="4381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2B2E86"/>
                </a:solidFill>
                <a:latin typeface="Georgia"/>
              </a:rPr>
              <a:t>Relaunch the brand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6350" y="3371850"/>
            <a:ext cx="4381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What: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Step up marketing to peer levels and relaunch to lift recognition.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Why: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Spend is a fraction of peers and few shoppers recognise us — nothing pulls demand.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300" y="3924300"/>
            <a:ext cx="5334000" cy="819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6750" y="4114800"/>
            <a:ext cx="438150" cy="438150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6350" y="4057650"/>
            <a:ext cx="4381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2B2E86"/>
                </a:solidFill>
                <a:latin typeface="Georgia"/>
              </a:rPr>
              <a:t>Win back export listings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6350" y="4305300"/>
            <a:ext cx="4381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What: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Regain the KSA &amp; Qatar listings we lost.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Why: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We handed shelf — and the shopper relationship — straight to competitors.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1581150"/>
            <a:ext cx="54864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The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0300" y="205740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Georgia"/>
              </a:rPr>
              <a:t>Revenue uplift by Year 5 — AED Mn (illustrative)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0300" y="241935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Distribution &amp; channels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10450" y="2400300"/>
            <a:ext cx="3238500" cy="2095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150" y="240030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120M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0300" y="281940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Brand relaunch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10450" y="2800350"/>
            <a:ext cx="2152650" cy="209550"/>
          </a:xfrm>
          <a:prstGeom prst="roundRect">
            <a:avLst>
              <a:gd name="adj" fmla="val 12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39300" y="280035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80M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0300" y="321945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Export listings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10450" y="3200400"/>
            <a:ext cx="1352550" cy="209550"/>
          </a:xfrm>
          <a:prstGeom prst="roundRect">
            <a:avLst>
              <a:gd name="adj" fmla="val 12000"/>
            </a:avLst>
          </a:prstGeom>
          <a:solidFill>
            <a:srgbClr val="949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9200" y="320040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50M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0300" y="3810000"/>
            <a:ext cx="38100" cy="495300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0300" y="3810000"/>
            <a:ext cx="5486400" cy="495300"/>
          </a:xfrm>
          <a:prstGeom prst="rect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3335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91B3A"/>
                </a:solidFill>
                <a:latin typeface="Arial"/>
              </a:rPr>
              <a:t>Just growing </a:t>
            </a:r>
            <a:r>
              <a:rPr sz="980" b="1" i="0">
                <a:solidFill>
                  <a:srgbClr val="2B2E86"/>
                </a:solidFill>
                <a:latin typeface="Arial"/>
              </a:rPr>
              <a:t>with the market (~4%/yr)</a:t>
            </a:r>
            <a:r>
              <a:rPr sz="980" b="0" i="0">
                <a:solidFill>
                  <a:srgbClr val="191B3A"/>
                </a:solidFill>
                <a:latin typeface="Arial"/>
              </a:rPr>
              <a:t> — not even gaining share — stabilises then recovers share.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0300" y="4476750"/>
            <a:ext cx="5486400" cy="666750"/>
          </a:xfrm>
          <a:prstGeom prst="roundRect">
            <a:avLst>
              <a:gd name="adj" fmla="val 6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5240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+~AED 250M revenue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FFFFF"/>
                </a:solidFill>
                <a:latin typeface="Arial"/>
              </a:rPr>
              <a:t>The largest pool — build through Horizons 1–2.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5300" y="5810250"/>
            <a:ext cx="11201400" cy="381000"/>
          </a:xfrm>
          <a:prstGeom prst="roundRect">
            <a:avLst>
              <a:gd name="adj" fmla="val 8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7145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 i="0">
                <a:solidFill>
                  <a:srgbClr val="FFFFFF"/>
                </a:solidFill>
                <a:latin typeface="Arial"/>
              </a:rPr>
              <a:t>So what:  </a:t>
            </a:r>
            <a:r>
              <a:rPr sz="1090" b="0" i="0">
                <a:solidFill>
                  <a:srgbClr val="FFFFFF"/>
                </a:solidFill>
                <a:latin typeface="Arial"/>
              </a:rPr>
              <a:t>Just growing with the market — not even gaining share — wins back the most revenue; distribution and brand are how.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" y="6534150"/>
            <a:ext cx="11201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6A6E7E"/>
                </a:solidFill>
                <a:latin typeface="Arial"/>
              </a:rPr>
              <a:t>Source: Dairyworks product &amp; geography volumes (2017–2021); Euromonitor UAE retail value; 2019 Nielsen brand recognition; peer A&amp;M benchmark.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39000" y="190500"/>
            <a:ext cx="457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6E7E"/>
                </a:solidFill>
                <a:latin typeface="Arial"/>
              </a:rPr>
              <a:t>Value creation  ›  </a:t>
            </a:r>
            <a:r>
              <a:rPr sz="900" b="1" i="0">
                <a:solidFill>
                  <a:srgbClr val="191B3A"/>
                </a:solidFill>
                <a:latin typeface="Arial"/>
              </a:rPr>
              <a:t>Lever 3 of 5 · Mix &amp; premiumization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323850"/>
            <a:ext cx="10668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91B3A"/>
                </a:solidFill>
                <a:latin typeface="Georgia"/>
              </a:rPr>
              <a:t>Lever 3 — Shift the mix to premium; it lifts revenue and margin at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314450"/>
            <a:ext cx="11201400" cy="9525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619875"/>
            <a:ext cx="38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EB2C0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066800"/>
            <a:ext cx="1066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A6E7E"/>
                </a:solidFill>
                <a:latin typeface="Arial"/>
              </a:rPr>
              <a:t>Premium already grew from 26% to 43% of revenue — push it further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300" y="1581150"/>
            <a:ext cx="53340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The solutions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" y="2057400"/>
            <a:ext cx="5334000" cy="819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6750" y="2247900"/>
            <a:ext cx="438150" cy="438150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6350" y="2190750"/>
            <a:ext cx="4381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2B2E86"/>
                </a:solidFill>
                <a:latin typeface="Georgia"/>
              </a:rPr>
              <a:t>Scale the premium winners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6350" y="2438400"/>
            <a:ext cx="4381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What: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Put volume, marketing and shelf behind organic milk &amp; flavoured yogurt.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Why: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They grow double-digit at 40% margin — the mix already shifts our way.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300" y="2990850"/>
            <a:ext cx="5334000" cy="819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6750" y="3181350"/>
            <a:ext cx="438150" cy="438150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6350" y="3124200"/>
            <a:ext cx="4381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2B2E86"/>
                </a:solidFill>
                <a:latin typeface="Georgia"/>
              </a:rPr>
              <a:t>Premiumize &amp; relaunch ice cream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6350" y="3371850"/>
            <a:ext cx="4381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What: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Re-platform our highest-margin category and relaunch it premium.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Why: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It earns 40% margin yet is declining fastest — the biggest self-help 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300" y="3924300"/>
            <a:ext cx="5334000" cy="819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6750" y="4114800"/>
            <a:ext cx="438150" cy="438150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6350" y="4057650"/>
            <a:ext cx="4381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 i="0">
                <a:solidFill>
                  <a:srgbClr val="2B2E86"/>
                </a:solidFill>
                <a:latin typeface="Georgia"/>
              </a:rPr>
              <a:t>Add premium formats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6350" y="4305300"/>
            <a:ext cx="43815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What: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Launch high-protein, single-serve and gifting packs.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B2E86"/>
                </a:solidFill>
                <a:latin typeface="Arial"/>
              </a:rPr>
              <a:t>Why: </a:t>
            </a:r>
            <a:r>
              <a:rPr sz="900" b="0" i="0">
                <a:solidFill>
                  <a:srgbClr val="191B3A"/>
                </a:solidFill>
                <a:latin typeface="Arial"/>
              </a:rPr>
              <a:t>New formats recruit new shoppers at premium price points.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1581150"/>
            <a:ext cx="54864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The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0300" y="205740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Georgia"/>
              </a:rPr>
              <a:t>Revenue uplift by Year 5 — AED Mn (illustrative)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0300" y="241935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Scale winners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10450" y="2400300"/>
            <a:ext cx="2933700" cy="2095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0350" y="240030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55M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0300" y="281940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Ice-cream relaunch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10450" y="2800350"/>
            <a:ext cx="2133600" cy="209550"/>
          </a:xfrm>
          <a:prstGeom prst="roundRect">
            <a:avLst>
              <a:gd name="adj" fmla="val 12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0250" y="280035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40M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0300" y="321945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Premium formats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10450" y="3200400"/>
            <a:ext cx="1333500" cy="209550"/>
          </a:xfrm>
          <a:prstGeom prst="roundRect">
            <a:avLst>
              <a:gd name="adj" fmla="val 12000"/>
            </a:avLst>
          </a:prstGeom>
          <a:solidFill>
            <a:srgbClr val="949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0150" y="320040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25M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0300" y="3810000"/>
            <a:ext cx="38100" cy="495300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0300" y="3810000"/>
            <a:ext cx="5486400" cy="495300"/>
          </a:xfrm>
          <a:prstGeom prst="rect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3335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91B3A"/>
                </a:solidFill>
                <a:latin typeface="Arial"/>
              </a:rPr>
              <a:t>Premium rises </a:t>
            </a:r>
            <a:r>
              <a:rPr sz="980" b="1" i="0">
                <a:solidFill>
                  <a:srgbClr val="2B2E86"/>
                </a:solidFill>
                <a:latin typeface="Arial"/>
              </a:rPr>
              <a:t>43% → &gt;55% of revenue</a:t>
            </a:r>
            <a:r>
              <a:rPr sz="980" b="0" i="0">
                <a:solidFill>
                  <a:srgbClr val="191B3A"/>
                </a:solidFill>
                <a:latin typeface="Arial"/>
              </a:rPr>
              <a:t> — blended gross margin up </a:t>
            </a:r>
            <a:r>
              <a:rPr sz="980" b="1" i="0">
                <a:solidFill>
                  <a:srgbClr val="2B2E86"/>
                </a:solidFill>
                <a:latin typeface="Arial"/>
              </a:rPr>
              <a:t>2–3pp</a:t>
            </a:r>
            <a:r>
              <a:rPr sz="980" b="0" i="0">
                <a:solidFill>
                  <a:srgbClr val="191B3A"/>
                </a:solidFill>
                <a:latin typeface="Arial"/>
              </a:rPr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0300" y="4476750"/>
            <a:ext cx="5486400" cy="666750"/>
          </a:xfrm>
          <a:prstGeom prst="roundRect">
            <a:avLst>
              <a:gd name="adj" fmla="val 6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5240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+~AED 120M revenue · margin-accretive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FFFFF"/>
                </a:solidFill>
                <a:latin typeface="Arial"/>
              </a:rPr>
              <a:t>Compounds over Horizons 2–3 as the mix shifts.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5300" y="5810250"/>
            <a:ext cx="11201400" cy="381000"/>
          </a:xfrm>
          <a:prstGeom prst="roundRect">
            <a:avLst>
              <a:gd name="adj" fmla="val 8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7145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 i="0">
                <a:solidFill>
                  <a:srgbClr val="FFFFFF"/>
                </a:solidFill>
                <a:latin typeface="Arial"/>
              </a:rPr>
              <a:t>So what:  </a:t>
            </a:r>
            <a:r>
              <a:rPr sz="1090" b="0" i="0">
                <a:solidFill>
                  <a:srgbClr val="FFFFFF"/>
                </a:solidFill>
                <a:latin typeface="Arial"/>
              </a:rPr>
              <a:t>Mix is the one lever that lifts revenue and margin at once — and the trend is already with us.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" y="6534150"/>
            <a:ext cx="11201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6A6E7E"/>
                </a:solidFill>
                <a:latin typeface="Arial"/>
              </a:rPr>
              <a:t>Source: Dairyworks product &amp; geography sales and GP (2017–2021); impact split illustrative, from the value-creation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39000" y="190500"/>
            <a:ext cx="457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6E7E"/>
                </a:solidFill>
                <a:latin typeface="Arial"/>
              </a:rPr>
              <a:t>Value creation  ›  </a:t>
            </a:r>
            <a:r>
              <a:rPr sz="900" b="1" i="0">
                <a:solidFill>
                  <a:srgbClr val="191B3A"/>
                </a:solidFill>
                <a:latin typeface="Arial"/>
              </a:rPr>
              <a:t>Lever 4 of 5 · New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323850"/>
            <a:ext cx="10668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91B3A"/>
                </a:solidFill>
                <a:latin typeface="Georgia"/>
              </a:rPr>
              <a:t>Lever 4 — Enter fast-growing categories we are missing, using a proven playbook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314450"/>
            <a:ext cx="11201400" cy="9525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619875"/>
            <a:ext cx="38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EB2C0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066800"/>
            <a:ext cx="1066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A6E7E"/>
                </a:solidFill>
                <a:latin typeface="Arial"/>
              </a:rPr>
              <a:t>What has worked for other brands — and the adjacencies to copy it into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300" y="1581150"/>
            <a:ext cx="53340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Best practice — proven by other brands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" y="2057400"/>
            <a:ext cx="5334000" cy="609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125" y="2143125"/>
            <a:ext cx="50863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E86"/>
                </a:solidFill>
                <a:latin typeface="Georgia"/>
              </a:rPr>
              <a:t>Oatly — plant-based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" y="2343150"/>
            <a:ext cx="50863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1B3A"/>
                </a:solidFill>
                <a:latin typeface="Arial"/>
              </a:rPr>
              <a:t>Bold rebrand + taste-led, packaging-as-media → </a:t>
            </a:r>
            <a:r>
              <a:rPr sz="900" b="1" i="0">
                <a:solidFill>
                  <a:srgbClr val="6F74DB"/>
                </a:solidFill>
                <a:latin typeface="Arial"/>
              </a:rPr>
              <a:t>+700% demand, 21% CAGR</a:t>
            </a:r>
            <a:r>
              <a:rPr sz="900" b="0" i="0">
                <a:solidFill>
                  <a:srgbClr val="191B3A"/>
                </a:solidFill>
                <a:latin typeface="Arial"/>
              </a:rPr>
              <a:t>. Lesson: lead on </a:t>
            </a:r>
            <a:r>
              <a:rPr sz="900" b="1" i="0">
                <a:solidFill>
                  <a:srgbClr val="2B2E86"/>
                </a:solidFill>
                <a:latin typeface="Arial"/>
              </a:rPr>
              <a:t>taste</a:t>
            </a:r>
            <a:r>
              <a:rPr sz="900" b="0" i="0">
                <a:solidFill>
                  <a:srgbClr val="191B3A"/>
                </a:solidFill>
                <a:latin typeface="Arial"/>
              </a:rPr>
              <a:t>, not just health.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300" y="2762250"/>
            <a:ext cx="5334000" cy="609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125" y="2847975"/>
            <a:ext cx="50863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E86"/>
                </a:solidFill>
                <a:latin typeface="Georgia"/>
              </a:rPr>
              <a:t>Chobani — protein / Greek yogurt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" y="3048000"/>
            <a:ext cx="50863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1B3A"/>
                </a:solidFill>
                <a:latin typeface="Arial"/>
              </a:rPr>
              <a:t>Omnichannel + sampling → </a:t>
            </a:r>
            <a:r>
              <a:rPr sz="900" b="1" i="0">
                <a:solidFill>
                  <a:srgbClr val="6F74DB"/>
                </a:solidFill>
                <a:latin typeface="Arial"/>
              </a:rPr>
              <a:t>+8pt awareness, 51% new buyers, $10.60 ROAS</a:t>
            </a:r>
            <a:r>
              <a:rPr sz="900" b="0" i="0">
                <a:solidFill>
                  <a:srgbClr val="191B3A"/>
                </a:solidFill>
                <a:latin typeface="Arial"/>
              </a:rPr>
              <a:t>. Lesson: recruit </a:t>
            </a:r>
            <a:r>
              <a:rPr sz="900" b="1" i="0">
                <a:solidFill>
                  <a:srgbClr val="2B2E86"/>
                </a:solidFill>
                <a:latin typeface="Arial"/>
              </a:rPr>
              <a:t>new households</a:t>
            </a:r>
            <a:r>
              <a:rPr sz="900" b="0" i="0">
                <a:solidFill>
                  <a:srgbClr val="191B3A"/>
                </a:solidFill>
                <a:latin typeface="Arial"/>
              </a:rPr>
              <a:t> via retail media &amp; trial.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300" y="3467100"/>
            <a:ext cx="5334000" cy="609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125" y="3552825"/>
            <a:ext cx="50863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E86"/>
                </a:solidFill>
                <a:latin typeface="Georgia"/>
              </a:rPr>
              <a:t>Halo Top — better-for-you ice cream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125" y="3752850"/>
            <a:ext cx="50863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1B3A"/>
                </a:solidFill>
                <a:latin typeface="Arial"/>
              </a:rPr>
              <a:t>Lead-retailer launch + in-store sampling → </a:t>
            </a:r>
            <a:r>
              <a:rPr sz="900" b="1" i="0">
                <a:solidFill>
                  <a:srgbClr val="6F74DB"/>
                </a:solidFill>
                <a:latin typeface="Arial"/>
              </a:rPr>
              <a:t>#3 UK brand within 12 months</a:t>
            </a:r>
            <a:r>
              <a:rPr sz="900" b="0" i="0">
                <a:solidFill>
                  <a:srgbClr val="191B3A"/>
                </a:solidFill>
                <a:latin typeface="Arial"/>
              </a:rPr>
              <a:t>. Lesson: anchor on one retailer, drive </a:t>
            </a:r>
            <a:r>
              <a:rPr sz="900" b="1" i="0">
                <a:solidFill>
                  <a:srgbClr val="2B2E86"/>
                </a:solidFill>
                <a:latin typeface="Arial"/>
              </a:rPr>
              <a:t>trial</a:t>
            </a:r>
            <a:r>
              <a:rPr sz="900" b="0" i="0">
                <a:solidFill>
                  <a:srgbClr val="191B3A"/>
                </a:solidFill>
                <a:latin typeface="Arial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4191000"/>
            <a:ext cx="38100" cy="571500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191000"/>
            <a:ext cx="5334000" cy="571500"/>
          </a:xfrm>
          <a:prstGeom prst="rect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3335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2B2E86"/>
                </a:solidFill>
                <a:latin typeface="Arial"/>
              </a:rPr>
              <a:t>The playbook for us: </a:t>
            </a:r>
            <a:r>
              <a:rPr sz="940" b="0" i="0">
                <a:solidFill>
                  <a:srgbClr val="191B3A"/>
                </a:solidFill>
                <a:latin typeface="Arial"/>
              </a:rPr>
              <a:t>enter on a clear better-for-you proposition, lead with taste, launch with a lead retailer + sampling, and amplify through online / quick-commerce.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581150"/>
            <a:ext cx="54864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The adjacencies — and the prize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300" y="2038350"/>
            <a:ext cx="4762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Georgia"/>
              </a:rPr>
              <a:t>Adjacencies we don’t yet play in — UAE market CAGR 2021–26E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0300" y="236220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Plant-based milk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10450" y="2343150"/>
            <a:ext cx="2828925" cy="209550"/>
          </a:xfrm>
          <a:prstGeom prst="roundRect">
            <a:avLst>
              <a:gd name="adj" fmla="val 12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15575" y="234315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+9.9%/yr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0300" y="270510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Sour-milk products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10450" y="2686050"/>
            <a:ext cx="2428875" cy="209550"/>
          </a:xfrm>
          <a:prstGeom prst="roundRect">
            <a:avLst>
              <a:gd name="adj" fmla="val 12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15525" y="268605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+8.5%/yr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0300" y="304800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Flavoured milk drinks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0450" y="3028950"/>
            <a:ext cx="1943100" cy="209550"/>
          </a:xfrm>
          <a:prstGeom prst="roundRect">
            <a:avLst>
              <a:gd name="adj" fmla="val 12000"/>
            </a:avLst>
          </a:prstGeom>
          <a:solidFill>
            <a:srgbClr val="949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9750" y="302895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+6.8%/yr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0300" y="339090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Drinking yogurt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10450" y="3371850"/>
            <a:ext cx="1771650" cy="209550"/>
          </a:xfrm>
          <a:prstGeom prst="roundRect">
            <a:avLst>
              <a:gd name="adj" fmla="val 12000"/>
            </a:avLst>
          </a:prstGeom>
          <a:solidFill>
            <a:srgbClr val="949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337185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+6.2%/yr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0300" y="3810000"/>
            <a:ext cx="38100" cy="495300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0300" y="3810000"/>
            <a:ext cx="5486400" cy="495300"/>
          </a:xfrm>
          <a:prstGeom prst="rect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3335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91B3A"/>
                </a:solidFill>
                <a:latin typeface="Arial"/>
              </a:rPr>
              <a:t>All four grow faster than our categories, and we have </a:t>
            </a:r>
            <a:r>
              <a:rPr sz="980" b="1" i="0">
                <a:solidFill>
                  <a:srgbClr val="2B2E86"/>
                </a:solidFill>
                <a:latin typeface="Arial"/>
              </a:rPr>
              <a:t>zero presence</a:t>
            </a:r>
            <a:r>
              <a:rPr sz="980" b="0" i="0">
                <a:solidFill>
                  <a:srgbClr val="191B3A"/>
                </a:solidFill>
                <a:latin typeface="Arial"/>
              </a:rPr>
              <a:t> — existing chilled distribution keeps entry low-cost.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300" y="4476750"/>
            <a:ext cx="5486400" cy="666750"/>
          </a:xfrm>
          <a:prstGeom prst="roundRect">
            <a:avLst>
              <a:gd name="adj" fmla="val 6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5240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+~AED 110M revenue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FFFFF"/>
                </a:solidFill>
                <a:latin typeface="Arial"/>
              </a:rPr>
              <a:t>Follow a proven path, not invent one — Horizons 2–3.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5300" y="5810250"/>
            <a:ext cx="11201400" cy="381000"/>
          </a:xfrm>
          <a:prstGeom prst="roundRect">
            <a:avLst>
              <a:gd name="adj" fmla="val 8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7145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 i="0">
                <a:solidFill>
                  <a:srgbClr val="FFFFFF"/>
                </a:solidFill>
                <a:latin typeface="Arial"/>
              </a:rPr>
              <a:t>So what:  </a:t>
            </a:r>
            <a:r>
              <a:rPr sz="1090" b="0" i="0">
                <a:solidFill>
                  <a:srgbClr val="FFFFFF"/>
                </a:solidFill>
                <a:latin typeface="Arial"/>
              </a:rPr>
              <a:t>These categories are large and fast-growing, and the winning formula is known — we follow a proven path, not invent one.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300" y="6534150"/>
            <a:ext cx="11201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6A6E7E"/>
                </a:solidFill>
                <a:latin typeface="Arial"/>
              </a:rPr>
              <a:t>Source: Euromonitor UAE retail value (2021–26E). Best-practice results: Oatly / Forsman &amp; Bodenfors; Chobani / Walmart Connect &amp; Snapchat; Halo Top / dunnhumby &amp; Shopkick case studies.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39000" y="190500"/>
            <a:ext cx="457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6E7E"/>
                </a:solidFill>
                <a:latin typeface="Arial"/>
              </a:rPr>
              <a:t>Value creation  ›  </a:t>
            </a:r>
            <a:r>
              <a:rPr sz="900" b="1" i="0">
                <a:solidFill>
                  <a:srgbClr val="191B3A"/>
                </a:solidFill>
                <a:latin typeface="Arial"/>
              </a:rPr>
              <a:t>Lever 5 of 5 · New markets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323850"/>
            <a:ext cx="10668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91B3A"/>
                </a:solidFill>
                <a:latin typeface="Georgia"/>
              </a:rPr>
              <a:t>Lever 5 — Enter Tunisia, Egypt and Morocco first, in that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314450"/>
            <a:ext cx="11201400" cy="9525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619875"/>
            <a:ext cx="38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EB2C0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066800"/>
            <a:ext cx="1066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A6E7E"/>
                </a:solidFill>
                <a:latin typeface="Arial"/>
              </a:rPr>
              <a:t>Ranked on a 14-factor entry scorecard; KSA, UAE &amp; Qatar already served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300" y="1581150"/>
            <a:ext cx="53340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The priority markets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" y="2057400"/>
            <a:ext cx="533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2209800"/>
            <a:ext cx="323850" cy="219075"/>
          </a:xfrm>
          <a:prstGeom prst="rect">
            <a:avLst/>
          </a:prstGeom>
          <a:solidFill>
            <a:srgbClr val="E700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000" y="2247900"/>
            <a:ext cx="142875" cy="1428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0575" y="2262188"/>
            <a:ext cx="114300" cy="114300"/>
          </a:xfrm>
          <a:prstGeom prst="ellipse">
            <a:avLst/>
          </a:prstGeom>
          <a:solidFill>
            <a:srgbClr val="E700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9150" y="2276475"/>
            <a:ext cx="85725" cy="8572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85850" y="2181225"/>
            <a:ext cx="238125" cy="238125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9700" y="2190750"/>
            <a:ext cx="17145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2B2E86"/>
                </a:solidFill>
                <a:latin typeface="Georgia"/>
              </a:rPr>
              <a:t>Tunisia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2800" y="2190750"/>
            <a:ext cx="22860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6A6E7E"/>
                </a:solidFill>
                <a:latin typeface="Arial"/>
              </a:rPr>
              <a:t>Score </a:t>
            </a:r>
            <a:r>
              <a:rPr sz="860" b="1" i="0">
                <a:solidFill>
                  <a:srgbClr val="2B2E86"/>
                </a:solidFill>
                <a:latin typeface="Arial"/>
              </a:rPr>
              <a:t>77.3</a:t>
            </a:r>
            <a:r>
              <a:rPr sz="860" b="1" i="0">
                <a:solidFill>
                  <a:srgbClr val="6A6E7E"/>
                </a:solidFill>
                <a:latin typeface="Arial"/>
              </a:rPr>
              <a:t> · Rank </a:t>
            </a:r>
            <a:r>
              <a:rPr sz="860" b="1" i="0">
                <a:solidFill>
                  <a:srgbClr val="2B2E86"/>
                </a:solidFill>
                <a:latin typeface="Arial"/>
              </a:rP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2495550"/>
            <a:ext cx="49911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1B3A"/>
                </a:solidFill>
                <a:latin typeface="Arial"/>
              </a:rPr>
              <a:t>Fastest-growing market (</a:t>
            </a:r>
            <a:r>
              <a:rPr sz="900" b="1" i="0">
                <a:solidFill>
                  <a:srgbClr val="2B2E86"/>
                </a:solidFill>
                <a:latin typeface="Arial"/>
              </a:rPr>
              <a:t>+11.2%/yr</a:t>
            </a:r>
            <a:r>
              <a:rPr sz="900" b="0" i="0">
                <a:solidFill>
                  <a:srgbClr val="191B3A"/>
                </a:solidFill>
                <a:latin typeface="Arial"/>
              </a:rPr>
              <a:t>). Lead with </a:t>
            </a:r>
            <a:r>
              <a:rPr sz="900" b="1" i="0">
                <a:solidFill>
                  <a:srgbClr val="2B2E86"/>
                </a:solidFill>
                <a:latin typeface="Arial"/>
              </a:rPr>
              <a:t>ice cream &amp; flavoured yoghurt</a:t>
            </a:r>
            <a:r>
              <a:rPr sz="900" b="0" i="0">
                <a:solidFill>
                  <a:srgbClr val="191B3A"/>
                </a:solidFill>
                <a:latin typeface="Arial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5300" y="2990850"/>
            <a:ext cx="533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6750" y="3143250"/>
            <a:ext cx="323850" cy="73342"/>
          </a:xfrm>
          <a:prstGeom prst="rect">
            <a:avLst/>
          </a:prstGeom>
          <a:solidFill>
            <a:srgbClr val="CE11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216592"/>
            <a:ext cx="323850" cy="72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6750" y="3288982"/>
            <a:ext cx="323850" cy="7334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0575" y="3219450"/>
            <a:ext cx="76200" cy="76200"/>
          </a:xfrm>
          <a:prstGeom prst="ellipse">
            <a:avLst/>
          </a:prstGeom>
          <a:solidFill>
            <a:srgbClr val="C09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5850" y="3114675"/>
            <a:ext cx="238125" cy="238125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3124200"/>
            <a:ext cx="17145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2B2E86"/>
                </a:solidFill>
                <a:latin typeface="Georgia"/>
              </a:rPr>
              <a:t>Egypt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2800" y="3124200"/>
            <a:ext cx="22860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6A6E7E"/>
                </a:solidFill>
                <a:latin typeface="Arial"/>
              </a:rPr>
              <a:t>Score </a:t>
            </a:r>
            <a:r>
              <a:rPr sz="860" b="1" i="0">
                <a:solidFill>
                  <a:srgbClr val="2B2E86"/>
                </a:solidFill>
                <a:latin typeface="Arial"/>
              </a:rPr>
              <a:t>75.4</a:t>
            </a:r>
            <a:r>
              <a:rPr sz="860" b="1" i="0">
                <a:solidFill>
                  <a:srgbClr val="6A6E7E"/>
                </a:solidFill>
                <a:latin typeface="Arial"/>
              </a:rPr>
              <a:t> · Rank </a:t>
            </a:r>
            <a:r>
              <a:rPr sz="860" b="1" i="0">
                <a:solidFill>
                  <a:srgbClr val="2B2E86"/>
                </a:solidFill>
                <a:latin typeface="Arial"/>
              </a:rPr>
              <a:t>#2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" y="3429000"/>
            <a:ext cx="49911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1B3A"/>
                </a:solidFill>
                <a:latin typeface="Arial"/>
              </a:rPr>
              <a:t>Best size-and-growth balance — largest unpenetrated base (</a:t>
            </a:r>
            <a:r>
              <a:rPr sz="900" b="1" i="0">
                <a:solidFill>
                  <a:srgbClr val="2B2E86"/>
                </a:solidFill>
                <a:latin typeface="Arial"/>
              </a:rPr>
              <a:t>+7.0%/yr</a:t>
            </a:r>
            <a:r>
              <a:rPr sz="900" b="0" i="0">
                <a:solidFill>
                  <a:srgbClr val="191B3A"/>
                </a:solidFill>
                <a:latin typeface="Arial"/>
              </a:rPr>
              <a:t>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5300" y="3924300"/>
            <a:ext cx="533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4076700"/>
            <a:ext cx="323850" cy="219075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5-Point Star 27"/>
          <p:cNvSpPr/>
          <p:nvPr/>
        </p:nvSpPr>
        <p:spPr>
          <a:xfrm>
            <a:off x="742950" y="4114800"/>
            <a:ext cx="171450" cy="142875"/>
          </a:xfrm>
          <a:prstGeom prst="star5">
            <a:avLst/>
          </a:prstGeom>
          <a:noFill/>
          <a:ln w="15240">
            <a:solidFill>
              <a:srgbClr val="0062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5850" y="4048125"/>
            <a:ext cx="238125" cy="238125"/>
          </a:xfrm>
          <a:prstGeom prst="ellipse">
            <a:avLst/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9700" y="4057650"/>
            <a:ext cx="17145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2B2E86"/>
                </a:solidFill>
                <a:latin typeface="Georgia"/>
              </a:rPr>
              <a:t>Morocco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2800" y="4057650"/>
            <a:ext cx="22860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6A6E7E"/>
                </a:solidFill>
                <a:latin typeface="Arial"/>
              </a:rPr>
              <a:t>Score </a:t>
            </a:r>
            <a:r>
              <a:rPr sz="860" b="1" i="0">
                <a:solidFill>
                  <a:srgbClr val="2B2E86"/>
                </a:solidFill>
                <a:latin typeface="Arial"/>
              </a:rPr>
              <a:t>60.4</a:t>
            </a:r>
            <a:r>
              <a:rPr sz="860" b="1" i="0">
                <a:solidFill>
                  <a:srgbClr val="6A6E7E"/>
                </a:solidFill>
                <a:latin typeface="Arial"/>
              </a:rPr>
              <a:t> · </a:t>
            </a:r>
            <a:r>
              <a:rPr sz="860" b="1" i="0">
                <a:solidFill>
                  <a:srgbClr val="2B2E86"/>
                </a:solidFill>
                <a:latin typeface="Arial"/>
              </a:rPr>
              <a:t>#3 unpenetrated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" y="4362450"/>
            <a:ext cx="49911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91B3A"/>
                </a:solidFill>
                <a:latin typeface="Arial"/>
              </a:rPr>
              <a:t>Large, steady base (</a:t>
            </a:r>
            <a:r>
              <a:rPr sz="900" b="1" i="0">
                <a:solidFill>
                  <a:srgbClr val="2B2E86"/>
                </a:solidFill>
                <a:latin typeface="Arial"/>
              </a:rPr>
              <a:t>+6.5%/yr</a:t>
            </a:r>
            <a:r>
              <a:rPr sz="900" b="0" i="0">
                <a:solidFill>
                  <a:srgbClr val="191B3A"/>
                </a:solidFill>
                <a:latin typeface="Arial"/>
              </a:rPr>
              <a:t>) — strong in ice cream &amp; flavoured yoghurt.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0300" y="1581150"/>
            <a:ext cx="5486400" cy="2857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Arial"/>
              </a:rPr>
              <a:t>The 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0300" y="205740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Georgia"/>
              </a:rPr>
              <a:t>Revenue uplift by Year 5 — AED Mn (illustrative)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0300" y="241935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Egypt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10450" y="2400300"/>
            <a:ext cx="2933700" cy="209550"/>
          </a:xfrm>
          <a:prstGeom prst="roundRect">
            <a:avLst>
              <a:gd name="adj" fmla="val 12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0350" y="240030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55M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0300" y="281940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Morocco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10450" y="2800350"/>
            <a:ext cx="2133600" cy="209550"/>
          </a:xfrm>
          <a:prstGeom prst="roundRect">
            <a:avLst>
              <a:gd name="adj" fmla="val 12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20250" y="280035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40M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0300" y="3219450"/>
            <a:ext cx="11239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91B3A"/>
                </a:solidFill>
                <a:latin typeface="Arial"/>
              </a:rPr>
              <a:t>Tunisia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10450" y="3200400"/>
            <a:ext cx="1333500" cy="209550"/>
          </a:xfrm>
          <a:prstGeom prst="roundRect">
            <a:avLst>
              <a:gd name="adj" fmla="val 12000"/>
            </a:avLst>
          </a:prstGeom>
          <a:solidFill>
            <a:srgbClr val="949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20150" y="3200400"/>
            <a:ext cx="11430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~AED 25M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0300" y="3810000"/>
            <a:ext cx="38100" cy="495300"/>
          </a:xfrm>
          <a:prstGeom prst="rect">
            <a:avLst/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0300" y="3810000"/>
            <a:ext cx="5486400" cy="495300"/>
          </a:xfrm>
          <a:prstGeom prst="rect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3335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2B2E86"/>
                </a:solidFill>
                <a:latin typeface="Arial"/>
              </a:rPr>
              <a:t>Asset-light</a:t>
            </a:r>
            <a:r>
              <a:rPr sz="980" b="0" i="0">
                <a:solidFill>
                  <a:srgbClr val="191B3A"/>
                </a:solidFill>
                <a:latin typeface="Arial"/>
              </a:rPr>
              <a:t> distributor / export entry off existing plants — sequenced in scorecard order.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0300" y="4476750"/>
            <a:ext cx="5486400" cy="666750"/>
          </a:xfrm>
          <a:prstGeom prst="roundRect">
            <a:avLst>
              <a:gd name="adj" fmla="val 6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5240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+~AED 120M revenue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FFFFFF"/>
                </a:solidFill>
                <a:latin typeface="Arial"/>
              </a:rPr>
              <a:t>Longer-horizon; sequence after the home-market turnaround (Horizon 3).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5300" y="5810250"/>
            <a:ext cx="11201400" cy="381000"/>
          </a:xfrm>
          <a:prstGeom prst="roundRect">
            <a:avLst>
              <a:gd name="adj" fmla="val 8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1450" rIns="17145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 i="0">
                <a:solidFill>
                  <a:srgbClr val="FFFFFF"/>
                </a:solidFill>
                <a:latin typeface="Arial"/>
              </a:rPr>
              <a:t>So what:  </a:t>
            </a:r>
            <a:r>
              <a:rPr sz="1090" b="0" i="0">
                <a:solidFill>
                  <a:srgbClr val="FFFFFF"/>
                </a:solidFill>
                <a:latin typeface="Arial"/>
              </a:rPr>
              <a:t>Our GCC markets are already served — the next growth comes from North Africa, led by Tunisia and Egypt.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5300" y="6534150"/>
            <a:ext cx="11201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6A6E7E"/>
                </a:solidFill>
                <a:latin typeface="Arial"/>
              </a:rPr>
              <a:t>Source: Team market-entry scorecard (14-factor; scores B21:O34, ranking B37:H49) and portfolio-relevant dairy market size &amp; CAGR, 2022–26E. KSA, UAE &amp; Qatar excluded as already penetrated; impact split illustrative.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39000" y="190500"/>
            <a:ext cx="457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6E7E"/>
                </a:solidFill>
                <a:latin typeface="Arial"/>
              </a:rPr>
              <a:t>Value creation  ›  </a:t>
            </a:r>
            <a:r>
              <a:rPr sz="900" b="1" i="0">
                <a:solidFill>
                  <a:srgbClr val="191B3A"/>
                </a:solidFill>
                <a:latin typeface="Arial"/>
              </a:rP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323850"/>
            <a:ext cx="10668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91B3A"/>
                </a:solidFill>
                <a:latin typeface="Georgia"/>
              </a:rPr>
              <a:t>A three-phase plan lifts EBITDA margin from 5.8% to ~16.5%, each phase funding the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314450"/>
            <a:ext cx="11201400" cy="9525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619875"/>
            <a:ext cx="38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EB2C0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066800"/>
            <a:ext cx="1066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A6E7E"/>
                </a:solidFill>
                <a:latin typeface="Arial"/>
              </a:rPr>
              <a:t>Three phases over five years: stop the bleed, build the engine, reach full potential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81250" y="1447800"/>
            <a:ext cx="3009900" cy="438150"/>
          </a:xfrm>
          <a:prstGeom prst="roundRect">
            <a:avLst>
              <a:gd name="adj" fmla="val 8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HORIZON 1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Georgia"/>
              </a:rPr>
              <a:t>Stop the bleed · 0–12m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67350" y="1447800"/>
            <a:ext cx="3067050" cy="438150"/>
          </a:xfrm>
          <a:prstGeom prst="roundRect">
            <a:avLst>
              <a:gd name="adj" fmla="val 8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HORIZON 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Georgia"/>
              </a:rPr>
              <a:t>Build the engine · 12–36m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0600" y="1447800"/>
            <a:ext cx="3086100" cy="438150"/>
          </a:xfrm>
          <a:prstGeom prst="roundRect">
            <a:avLst>
              <a:gd name="adj" fmla="val 8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HORIZON 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Georgia"/>
              </a:rPr>
              <a:t>Full potential · 36–60m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1250" y="1447800"/>
            <a:ext cx="9525" cy="3733800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67350" y="1447800"/>
            <a:ext cx="9525" cy="3733800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10600" y="1447800"/>
            <a:ext cx="9525" cy="3733800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696700" y="1447800"/>
            <a:ext cx="9525" cy="3733800"/>
          </a:xfrm>
          <a:prstGeom prst="rect">
            <a:avLst/>
          </a:prstGeom>
          <a:solidFill>
            <a:srgbClr val="CB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5300" y="2038350"/>
            <a:ext cx="18097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1 · Pricing &amp;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revenue mgmt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9350" y="1981200"/>
            <a:ext cx="2933700" cy="304800"/>
          </a:xfrm>
          <a:prstGeom prst="roundRect">
            <a:avLst>
              <a:gd name="adj" fmla="val 14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7620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List-price recovery + promo reset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05450" y="1981200"/>
            <a:ext cx="2990850" cy="304800"/>
          </a:xfrm>
          <a:prstGeom prst="roundRect">
            <a:avLst>
              <a:gd name="adj" fmla="val 14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7620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Price-pack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" y="2533650"/>
            <a:ext cx="18097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2 · Share recovery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(distribution+brand)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9350" y="2476500"/>
            <a:ext cx="2933700" cy="304800"/>
          </a:xfrm>
          <a:prstGeom prst="roundRect">
            <a:avLst>
              <a:gd name="adj" fmla="val 14000"/>
            </a:avLst>
          </a:prstGeom>
          <a:solidFill>
            <a:srgbClr val="2B2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7620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Fix availability; KSA &amp; Qatar listings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05450" y="2476500"/>
            <a:ext cx="6153150" cy="304800"/>
          </a:xfrm>
          <a:prstGeom prst="roundRect">
            <a:avLst>
              <a:gd name="adj" fmla="val 14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7620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Rebuild UAE RTM; A&amp;M reset 0.6%→~3%; relaunch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" y="3028950"/>
            <a:ext cx="18097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3 · Mix &amp;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premiumization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05450" y="2971800"/>
            <a:ext cx="2990850" cy="304800"/>
          </a:xfrm>
          <a:prstGeom prst="roundRect">
            <a:avLst>
              <a:gd name="adj" fmla="val 14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7620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Scale organic &amp; flavoured; relaunch ice cream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48700" y="2971800"/>
            <a:ext cx="3009900" cy="304800"/>
          </a:xfrm>
          <a:prstGeom prst="roundRect">
            <a:avLst>
              <a:gd name="adj" fmla="val 14000"/>
            </a:avLst>
          </a:prstGeom>
          <a:solidFill>
            <a:srgbClr val="949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7620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Premium mix embedded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" y="3524250"/>
            <a:ext cx="18097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4 · 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categories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05450" y="3467100"/>
            <a:ext cx="2990850" cy="304800"/>
          </a:xfrm>
          <a:prstGeom prst="roundRect">
            <a:avLst>
              <a:gd name="adj" fmla="val 14000"/>
            </a:avLst>
          </a:prstGeom>
          <a:solidFill>
            <a:srgbClr val="6F7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7620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Pilot plant-based &amp; sour milk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48700" y="3467100"/>
            <a:ext cx="3009900" cy="304800"/>
          </a:xfrm>
          <a:prstGeom prst="roundRect">
            <a:avLst>
              <a:gd name="adj" fmla="val 14000"/>
            </a:avLst>
          </a:prstGeom>
          <a:solidFill>
            <a:srgbClr val="949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7620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Scale adjacencies nationally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300" y="4019550"/>
            <a:ext cx="18097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5 · 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191B3A"/>
                </a:solidFill>
                <a:latin typeface="Arial"/>
              </a:rPr>
              <a:t>markets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48700" y="3962400"/>
            <a:ext cx="3009900" cy="304800"/>
          </a:xfrm>
          <a:prstGeom prst="roundRect">
            <a:avLst>
              <a:gd name="adj" fmla="val 14000"/>
            </a:avLst>
          </a:prstGeom>
          <a:solidFill>
            <a:srgbClr val="949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7620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Scale KSA; enter Egypt &amp; Morocco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19350" y="4476750"/>
            <a:ext cx="2933700" cy="571500"/>
          </a:xfrm>
          <a:prstGeom prst="rect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90" b="1" i="0">
                <a:solidFill>
                  <a:srgbClr val="2B2E86"/>
                </a:solidFill>
                <a:latin typeface="Arial"/>
              </a:rPr>
              <a:t>MILESTONE · YEAR 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 i="0">
                <a:solidFill>
                  <a:srgbClr val="191B3A"/>
                </a:solidFill>
                <a:latin typeface="Arial"/>
              </a:rPr>
              <a:t>Break-even protected; S&amp;D −3pp; price recovered on commodity lines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05450" y="4476750"/>
            <a:ext cx="2990850" cy="571500"/>
          </a:xfrm>
          <a:prstGeom prst="rect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90" b="1" i="0">
                <a:solidFill>
                  <a:srgbClr val="2B2E86"/>
                </a:solidFill>
                <a:latin typeface="Arial"/>
              </a:rPr>
              <a:t>MILESTONE · YEAR 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 i="0">
                <a:solidFill>
                  <a:srgbClr val="191B3A"/>
                </a:solidFill>
                <a:latin typeface="Arial"/>
              </a:rPr>
              <a:t>EBITDA margin ~12%; UAE share stabilised; adjacencies piloted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8700" y="4476750"/>
            <a:ext cx="3009900" cy="571500"/>
          </a:xfrm>
          <a:prstGeom prst="rect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90" b="1" i="0">
                <a:solidFill>
                  <a:srgbClr val="2B2E86"/>
                </a:solidFill>
                <a:latin typeface="Arial"/>
              </a:rPr>
              <a:t>MILESTONE · YEAR 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 i="0">
                <a:solidFill>
                  <a:srgbClr val="191B3A"/>
                </a:solidFill>
                <a:latin typeface="Arial"/>
              </a:rPr>
              <a:t>Revenue ~AED 2.7bn; EBITDA margin ~16.5% (~AED 445M)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5295900"/>
            <a:ext cx="112014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1B3A"/>
                </a:solidFill>
                <a:latin typeface="Arial"/>
              </a:rPr>
              <a:t>EBITDA margin trajectory:   </a:t>
            </a:r>
            <a:r>
              <a:rPr sz="1050" b="1" i="0">
                <a:solidFill>
                  <a:srgbClr val="2B2E86"/>
                </a:solidFill>
                <a:latin typeface="Arial"/>
              </a:rPr>
              <a:t>5.8%</a:t>
            </a:r>
            <a:r>
              <a:rPr sz="900" b="0" i="0">
                <a:solidFill>
                  <a:srgbClr val="191B3A"/>
                </a:solidFill>
                <a:latin typeface="Arial"/>
              </a:rPr>
              <a:t>   →   </a:t>
            </a:r>
            <a:r>
              <a:rPr sz="1050" b="1" i="0">
                <a:solidFill>
                  <a:srgbClr val="6F74DB"/>
                </a:solidFill>
                <a:latin typeface="Arial"/>
              </a:rPr>
              <a:t>~12%</a:t>
            </a:r>
            <a:r>
              <a:rPr sz="900" b="0" i="0">
                <a:solidFill>
                  <a:srgbClr val="191B3A"/>
                </a:solidFill>
                <a:latin typeface="Arial"/>
              </a:rPr>
              <a:t>   →   </a:t>
            </a:r>
            <a:r>
              <a:rPr sz="1050" b="1" i="0">
                <a:solidFill>
                  <a:srgbClr val="2B2E86"/>
                </a:solidFill>
                <a:latin typeface="Arial"/>
              </a:rPr>
              <a:t>~16.5%</a:t>
            </a:r>
            <a:r>
              <a:rPr sz="900" b="0" i="1">
                <a:solidFill>
                  <a:srgbClr val="6A6E7E"/>
                </a:solidFill>
                <a:latin typeface="Arial"/>
              </a:rPr>
              <a:t>     each horizon funds the investment of the next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6534150"/>
            <a:ext cx="112014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6A6E7E"/>
                </a:solidFill>
                <a:latin typeface="Arial"/>
              </a:rPr>
              <a:t>Source: Team value-creation plan; Dairyworks P&amp;L and peer benchmark; initiative economics from the value-creation model. Timeframes indicative.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